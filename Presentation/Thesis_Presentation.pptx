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 Speaker 1 opens] Good morning. We are presenting our thesis on explainable cyberbullying detection. Our system detects whether an online comment is bullying or not, using a RoBERTa transformer, and — unlike most prior work — it also explains WHY, using LIME. ANIMATION: let the title bar fade in, then the names appear.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Social media produces a huge volume of comments and a lot of it is harmful. Humans cannot moderate it all. The bigger problem: existing detectors just output 'bullying' with no reason, so the decision cannot be trusted or challenged. Our aim is both accuracy AND transparency. ANIMATION: reveal the bullet points one by one; the chart appears last.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Our objectives: build the detector, compare four models from a simple baseline up to a transformer, beat the base paper's accuracy and verify it on more than one dataset, and — the key novelty — add LIME explanations. ANIMATION: each objective flies/fades in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We reviewed twelve studies. Some reach very high accuracy, but look at the last column — almost all say 'No' to explainability. Our work (highlighted) reaches 92.33% AND is explainable. ANIMATION: bring in the table, then highlight the last 'Our Work' 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Our dataset has about 4,000 English comments — a thousand we collected ourselves from three platforms, and three thousand from the public Jigsaw corpus. The classes are almost evenly balanced, so accuracy is a fair measure. ANIMATION: bullets first, then the two charts slide in from the right.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Here are real labelled examples covering all six bully types we recorded. Notice the task is not just keyword spotting — a strongly worded comment is not automatically bullying. ANIMATION: reveal rows top-to-bottom.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hand over after this] This is our full pipeline: collect data, clean and de-duplicate (we de-duplicate AFTER cleaning, which improved every model), reduce to a binary label, split 70/15/15, train the four models, evaluate, and finally run LIME on the best model. My teammate will now take over with the models and results. ANIMATION: reveal the boxes step by step following the arrows.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Thank you. We trained four models from a simple baseline up to RoBERTa. For explanations we chose LIME because it is model-agnostic, explains one comment at a time, gives word-level reasons, and is lightweight. This diagram shows how LIME works. ANIMATION: bullets first, then the flow diagram.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Here are the results on our test set. The pattern is clean: the linear baseline is solid, the recurrent models improve on it, and RoBERTa is the clear winner at 92.33% — five points ahead and well above the base paper's 77%. ANIMATION: reveal rows top-to-bottom, highlight the RoBERTa 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All four confusion matrices on one scale. Every model gets most cases right (dark diagonal), but RoBERTa (bottom-right) has the fewest and most balanced errors — only 19 false positives and 27 missed. ANIMATION: zoom/fade the figure in; optionally point to the RoBERTa panel.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This is LIME in action on a correct case. The left is the actual program output; the right is the bar chart. The model flagged it as bullying because of 'hates', 'you', 'away' — exactly what a human would point to. ANIMATION: show the output screenshot first, then the bar chart, then the caption.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We are honest about weaknesses. This sarcastic comment is actually bullying, but the model said Not-Bullying with high confidence. LIME shows why: the positive-sounding words won. Sarcasm is a known hard problem — and note that WITHOUT explainability this error would be invisible. ANIMATION: output first, then chart, then caption.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Beyond the numbers: used responsibly, with a human in the loop, this system can protect users and make moderation fairer because every decision can be explained. In conclusion, RoBERTa was best in every setting and LIME adds the trust that prior work lacks. ANIMATION: reveal points one by 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Future work: close the training gap, handle sarcasm, bring back the fine-grained types, and extend to Bangla, English and Hindi together. Thank you — we're happy to take questions. ANIMATION: bullets, then the Thank-You bar.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8288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828800"/>
            <a:ext cx="12191695" cy="73152"/>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
            <a:ext cx="10698480" cy="1371600"/>
          </a:xfrm>
          <a:prstGeom prst="rect">
            <a:avLst/>
          </a:prstGeom>
          <a:noFill/>
        </p:spPr>
        <p:txBody>
          <a:bodyPr wrap="square" anchor="ctr">
            <a:spAutoFit/>
          </a:bodyPr>
          <a:lstStyle/>
          <a:p>
            <a:pPr algn="l"/>
            <a:r>
              <a:rPr sz="3000" b="1">
                <a:solidFill>
                  <a:srgbClr val="FFFFFF"/>
                </a:solidFill>
                <a:latin typeface="Calibri"/>
              </a:rPr>
              <a:t>Explainable Cyberbullying Detection Using Deep Learning and Transformer Models with LIME</a:t>
            </a:r>
          </a:p>
        </p:txBody>
      </p:sp>
      <p:sp>
        <p:nvSpPr>
          <p:cNvPr id="6" name="TextBox 5"/>
          <p:cNvSpPr txBox="1"/>
          <p:nvPr/>
        </p:nvSpPr>
        <p:spPr>
          <a:xfrm>
            <a:off x="731520" y="2194560"/>
            <a:ext cx="10698480" cy="457200"/>
          </a:xfrm>
          <a:prstGeom prst="rect">
            <a:avLst/>
          </a:prstGeom>
          <a:noFill/>
        </p:spPr>
        <p:txBody>
          <a:bodyPr wrap="square" anchor="t">
            <a:spAutoFit/>
          </a:bodyPr>
          <a:lstStyle/>
          <a:p>
            <a:pPr algn="l"/>
            <a:r>
              <a:rPr sz="2000" b="1">
                <a:solidFill>
                  <a:srgbClr val="C55A11"/>
                </a:solidFill>
                <a:latin typeface="Calibri"/>
              </a:rPr>
              <a:t>A Binary Detector (RoBERTa) with Word-Level Explanations</a:t>
            </a:r>
          </a:p>
        </p:txBody>
      </p:sp>
      <p:sp>
        <p:nvSpPr>
          <p:cNvPr id="7" name="TextBox 6"/>
          <p:cNvSpPr txBox="1"/>
          <p:nvPr/>
        </p:nvSpPr>
        <p:spPr>
          <a:xfrm>
            <a:off x="731520" y="3108960"/>
            <a:ext cx="10698480" cy="2377440"/>
          </a:xfrm>
          <a:prstGeom prst="rect">
            <a:avLst/>
          </a:prstGeom>
          <a:noFill/>
        </p:spPr>
        <p:txBody>
          <a:bodyPr wrap="square">
            <a:spAutoFit/>
          </a:bodyPr>
          <a:lstStyle/>
          <a:p>
            <a:pPr>
              <a:spcAft>
                <a:spcPts val="800"/>
              </a:spcAft>
            </a:pPr>
            <a:r>
              <a:rPr sz="1800" b="1">
                <a:solidFill>
                  <a:srgbClr val="1A1A1A"/>
                </a:solidFill>
                <a:latin typeface="Calibri"/>
              </a:rPr>
              <a:t>•  Presented by:  Mohammad Asmual Hoque Yousha  (0222210005101121)</a:t>
            </a:r>
          </a:p>
          <a:p>
            <a:pPr>
              <a:spcAft>
                <a:spcPts val="800"/>
              </a:spcAft>
            </a:pPr>
            <a:r>
              <a:rPr sz="1800" b="1">
                <a:solidFill>
                  <a:srgbClr val="1A1A1A"/>
                </a:solidFill>
                <a:latin typeface="Calibri"/>
              </a:rPr>
              <a:t>•                        Md Mostafa Kamal Anna  (0222210005101129)</a:t>
            </a:r>
          </a:p>
          <a:p>
            <a:pPr>
              <a:spcAft>
                <a:spcPts val="800"/>
              </a:spcAft>
            </a:pPr>
            <a:r>
              <a:rPr sz="1800" b="0">
                <a:solidFill>
                  <a:srgbClr val="1A1A1A"/>
                </a:solidFill>
                <a:latin typeface="Calibri"/>
              </a:rPr>
              <a:t>•  Supervised by:  Ms. Tanni Dhoom, Assistant Professor</a:t>
            </a:r>
          </a:p>
          <a:p>
            <a:pPr>
              <a:spcAft>
                <a:spcPts val="800"/>
              </a:spcAft>
            </a:pPr>
            <a:r>
              <a:rPr sz="1800" b="0">
                <a:solidFill>
                  <a:srgbClr val="6E6E6E"/>
                </a:solidFill>
                <a:latin typeface="Calibri"/>
              </a:rPr>
              <a:t>•  Department of Computer Science and Engineering</a:t>
            </a:r>
          </a:p>
          <a:p>
            <a:pPr>
              <a:spcAft>
                <a:spcPts val="800"/>
              </a:spcAft>
            </a:pPr>
            <a:r>
              <a:rPr sz="1800" b="0">
                <a:solidFill>
                  <a:srgbClr val="6E6E6E"/>
                </a:solidFill>
                <a:latin typeface="Calibri"/>
              </a:rPr>
              <a:t>•  Premier University, Chattogram  •  October 2026</a:t>
            </a:r>
          </a:p>
        </p:txBody>
      </p:sp>
      <p:sp>
        <p:nvSpPr>
          <p:cNvPr id="8" name="TextBox 7"/>
          <p:cNvSpPr txBox="1"/>
          <p:nvPr/>
        </p:nvSpPr>
        <p:spPr>
          <a:xfrm>
            <a:off x="365760" y="6446520"/>
            <a:ext cx="8229600" cy="365760"/>
          </a:xfrm>
          <a:prstGeom prst="rect">
            <a:avLst/>
          </a:prstGeom>
          <a:noFill/>
        </p:spPr>
        <p:txBody>
          <a:bodyPr wrap="square" anchor="t">
            <a:spAutoFit/>
          </a:bodyPr>
          <a:lstStyle/>
          <a:p>
            <a:pPr algn="l"/>
            <a:r>
              <a:rPr sz="1000" b="0">
                <a:solidFill>
                  <a:srgbClr val="6E6E6E"/>
                </a:solidFill>
                <a:latin typeface="Calibri"/>
              </a:rPr>
              <a:t>Explainable Cyberbullying Detection  •  RoBERTa + LIME</a:t>
            </a:r>
          </a:p>
        </p:txBody>
      </p:sp>
      <p:sp>
        <p:nvSpPr>
          <p:cNvPr id="9" name="TextBox 8"/>
          <p:cNvSpPr txBox="1"/>
          <p:nvPr/>
        </p:nvSpPr>
        <p:spPr>
          <a:xfrm>
            <a:off x="11247120" y="6446520"/>
            <a:ext cx="731520" cy="365760"/>
          </a:xfrm>
          <a:prstGeom prst="rect">
            <a:avLst/>
          </a:prstGeom>
          <a:noFill/>
        </p:spPr>
        <p:txBody>
          <a:bodyPr wrap="square" anchor="t">
            <a:spAutoFit/>
          </a:bodyPr>
          <a:lstStyle/>
          <a:p>
            <a:pPr algn="r"/>
            <a:r>
              <a:rPr sz="1100" b="0">
                <a:solidFill>
                  <a:srgbClr val="6E6E6E"/>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6400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241280" cy="868680"/>
          </a:xfrm>
          <a:prstGeom prst="rect">
            <a:avLst/>
          </a:prstGeom>
          <a:noFill/>
        </p:spPr>
        <p:txBody>
          <a:bodyPr wrap="square" anchor="ctr">
            <a:spAutoFit/>
          </a:bodyPr>
          <a:lstStyle/>
          <a:p>
            <a:pPr algn="l"/>
            <a:r>
              <a:rPr sz="2800" b="1">
                <a:solidFill>
                  <a:srgbClr val="FFFFFF"/>
                </a:solidFill>
                <a:latin typeface="Calibri"/>
              </a:rPr>
              <a:t>The Problem &amp; Why It Matters</a:t>
            </a:r>
          </a:p>
        </p:txBody>
      </p:sp>
      <p:sp>
        <p:nvSpPr>
          <p:cNvPr id="5" name="TextBox 4"/>
          <p:cNvSpPr txBox="1"/>
          <p:nvPr/>
        </p:nvSpPr>
        <p:spPr>
          <a:xfrm>
            <a:off x="9692640" y="109728"/>
            <a:ext cx="2286000" cy="868680"/>
          </a:xfrm>
          <a:prstGeom prst="rect">
            <a:avLst/>
          </a:prstGeom>
          <a:noFill/>
        </p:spPr>
        <p:txBody>
          <a:bodyPr wrap="square" anchor="ctr">
            <a:spAutoFit/>
          </a:bodyPr>
          <a:lstStyle/>
          <a:p>
            <a:pPr algn="r"/>
            <a:r>
              <a:rPr sz="1200" b="1">
                <a:solidFill>
                  <a:srgbClr val="FFFFFF"/>
                </a:solidFill>
                <a:latin typeface="Calibri"/>
              </a:rPr>
              <a:t>Speaker 1</a:t>
            </a:r>
          </a:p>
        </p:txBody>
      </p:sp>
      <p:sp>
        <p:nvSpPr>
          <p:cNvPr id="6" name="TextBox 5"/>
          <p:cNvSpPr txBox="1"/>
          <p:nvPr/>
        </p:nvSpPr>
        <p:spPr>
          <a:xfrm>
            <a:off x="548640" y="1371600"/>
            <a:ext cx="6492240" cy="4754880"/>
          </a:xfrm>
          <a:prstGeom prst="rect">
            <a:avLst/>
          </a:prstGeom>
          <a:noFill/>
        </p:spPr>
        <p:txBody>
          <a:bodyPr wrap="square">
            <a:spAutoFit/>
          </a:bodyPr>
          <a:lstStyle/>
          <a:p>
            <a:pPr>
              <a:spcAft>
                <a:spcPts val="1400"/>
              </a:spcAft>
            </a:pPr>
            <a:r>
              <a:rPr sz="2000" b="1">
                <a:solidFill>
                  <a:srgbClr val="1A1A1A"/>
                </a:solidFill>
                <a:latin typeface="Calibri"/>
              </a:rPr>
              <a:t>•  Millions of comments are posted daily on YouTube, Reddit, Facebook.</a:t>
            </a:r>
          </a:p>
          <a:p>
            <a:pPr>
              <a:spcAft>
                <a:spcPts val="1400"/>
              </a:spcAft>
            </a:pPr>
            <a:r>
              <a:rPr sz="2000" b="0">
                <a:solidFill>
                  <a:srgbClr val="1A1A1A"/>
                </a:solidFill>
                <a:latin typeface="Calibri"/>
              </a:rPr>
              <a:t>•  A large share is hostile — and manual moderation cannot keep up.</a:t>
            </a:r>
          </a:p>
          <a:p>
            <a:pPr>
              <a:spcAft>
                <a:spcPts val="1400"/>
              </a:spcAft>
            </a:pPr>
            <a:r>
              <a:rPr sz="2000" b="1">
                <a:solidFill>
                  <a:srgbClr val="C55A11"/>
                </a:solidFill>
                <a:latin typeface="Calibri"/>
              </a:rPr>
              <a:t>•  Most existing detectors give only a label, no reason.</a:t>
            </a:r>
          </a:p>
          <a:p>
            <a:pPr>
              <a:spcAft>
                <a:spcPts val="1400"/>
              </a:spcAft>
            </a:pPr>
            <a:r>
              <a:rPr sz="2000" b="0">
                <a:solidFill>
                  <a:srgbClr val="1A1A1A"/>
                </a:solidFill>
                <a:latin typeface="Calibri"/>
              </a:rPr>
              <a:t>•  A black-box moderation decision is hard to trust or appeal.</a:t>
            </a:r>
          </a:p>
          <a:p>
            <a:pPr>
              <a:spcAft>
                <a:spcPts val="1400"/>
              </a:spcAft>
            </a:pPr>
            <a:r>
              <a:rPr sz="2000" b="1">
                <a:solidFill>
                  <a:srgbClr val="548235"/>
                </a:solidFill>
                <a:latin typeface="Calibri"/>
              </a:rPr>
              <a:t>•  Our goal: high accuracy  +  a clear explanation for every decision.</a:t>
            </a:r>
          </a:p>
        </p:txBody>
      </p:sp>
      <p:pic>
        <p:nvPicPr>
          <p:cNvPr id="7" name="Picture 6" descr="class_distribution.png"/>
          <p:cNvPicPr>
            <a:picLocks noChangeAspect="1"/>
          </p:cNvPicPr>
          <p:nvPr/>
        </p:nvPicPr>
        <p:blipFill>
          <a:blip r:embed="rId2"/>
          <a:stretch>
            <a:fillRect/>
          </a:stretch>
        </p:blipFill>
        <p:spPr>
          <a:xfrm>
            <a:off x="7132320" y="1554480"/>
            <a:ext cx="4572000" cy="3272852"/>
          </a:xfrm>
          <a:prstGeom prst="rect">
            <a:avLst/>
          </a:prstGeom>
        </p:spPr>
      </p:pic>
      <p:sp>
        <p:nvSpPr>
          <p:cNvPr id="8" name="TextBox 7"/>
          <p:cNvSpPr txBox="1"/>
          <p:nvPr/>
        </p:nvSpPr>
        <p:spPr>
          <a:xfrm>
            <a:off x="365760" y="6446520"/>
            <a:ext cx="8229600" cy="365760"/>
          </a:xfrm>
          <a:prstGeom prst="rect">
            <a:avLst/>
          </a:prstGeom>
          <a:noFill/>
        </p:spPr>
        <p:txBody>
          <a:bodyPr wrap="square" anchor="t">
            <a:spAutoFit/>
          </a:bodyPr>
          <a:lstStyle/>
          <a:p>
            <a:pPr algn="l"/>
            <a:r>
              <a:rPr sz="1000" b="0">
                <a:solidFill>
                  <a:srgbClr val="6E6E6E"/>
                </a:solidFill>
                <a:latin typeface="Calibri"/>
              </a:rPr>
              <a:t>Explainable Cyberbullying Detection  •  RoBERTa + LIME</a:t>
            </a:r>
          </a:p>
        </p:txBody>
      </p:sp>
      <p:sp>
        <p:nvSpPr>
          <p:cNvPr id="9" name="TextBox 8"/>
          <p:cNvSpPr txBox="1"/>
          <p:nvPr/>
        </p:nvSpPr>
        <p:spPr>
          <a:xfrm>
            <a:off x="11247120" y="6446520"/>
            <a:ext cx="731520" cy="365760"/>
          </a:xfrm>
          <a:prstGeom prst="rect">
            <a:avLst/>
          </a:prstGeom>
          <a:noFill/>
        </p:spPr>
        <p:txBody>
          <a:bodyPr wrap="square" anchor="t">
            <a:spAutoFit/>
          </a:bodyPr>
          <a:lstStyle/>
          <a:p>
            <a:pPr algn="r"/>
            <a:r>
              <a:rPr sz="1100" b="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6400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241280" cy="868680"/>
          </a:xfrm>
          <a:prstGeom prst="rect">
            <a:avLst/>
          </a:prstGeom>
          <a:noFill/>
        </p:spPr>
        <p:txBody>
          <a:bodyPr wrap="square" anchor="ctr">
            <a:spAutoFit/>
          </a:bodyPr>
          <a:lstStyle/>
          <a:p>
            <a:pPr algn="l"/>
            <a:r>
              <a:rPr sz="2800" b="1">
                <a:solidFill>
                  <a:srgbClr val="FFFFFF"/>
                </a:solidFill>
                <a:latin typeface="Calibri"/>
              </a:rPr>
              <a:t>Objectives &amp; Contributions</a:t>
            </a:r>
          </a:p>
        </p:txBody>
      </p:sp>
      <p:sp>
        <p:nvSpPr>
          <p:cNvPr id="5" name="TextBox 4"/>
          <p:cNvSpPr txBox="1"/>
          <p:nvPr/>
        </p:nvSpPr>
        <p:spPr>
          <a:xfrm>
            <a:off x="9692640" y="109728"/>
            <a:ext cx="2286000" cy="868680"/>
          </a:xfrm>
          <a:prstGeom prst="rect">
            <a:avLst/>
          </a:prstGeom>
          <a:noFill/>
        </p:spPr>
        <p:txBody>
          <a:bodyPr wrap="square" anchor="ctr">
            <a:spAutoFit/>
          </a:bodyPr>
          <a:lstStyle/>
          <a:p>
            <a:pPr algn="r"/>
            <a:r>
              <a:rPr sz="1200" b="1">
                <a:solidFill>
                  <a:srgbClr val="FFFFFF"/>
                </a:solidFill>
                <a:latin typeface="Calibri"/>
              </a:rPr>
              <a:t>Speaker 1</a:t>
            </a:r>
          </a:p>
        </p:txBody>
      </p:sp>
      <p:sp>
        <p:nvSpPr>
          <p:cNvPr id="6" name="TextBox 5"/>
          <p:cNvSpPr txBox="1"/>
          <p:nvPr/>
        </p:nvSpPr>
        <p:spPr>
          <a:xfrm>
            <a:off x="548640" y="1371600"/>
            <a:ext cx="11064240" cy="4846320"/>
          </a:xfrm>
          <a:prstGeom prst="rect">
            <a:avLst/>
          </a:prstGeom>
          <a:noFill/>
        </p:spPr>
        <p:txBody>
          <a:bodyPr wrap="square">
            <a:spAutoFit/>
          </a:bodyPr>
          <a:lstStyle/>
          <a:p>
            <a:pPr>
              <a:spcAft>
                <a:spcPts val="1600"/>
              </a:spcAft>
            </a:pPr>
            <a:r>
              <a:rPr sz="2200" b="1">
                <a:solidFill>
                  <a:srgbClr val="1A1A1A"/>
                </a:solidFill>
                <a:latin typeface="Calibri"/>
              </a:rPr>
              <a:t>•  Build a binary detector (Bullying vs Not-Bullying) on multi-platform data.</a:t>
            </a:r>
          </a:p>
          <a:p>
            <a:pPr>
              <a:spcAft>
                <a:spcPts val="1600"/>
              </a:spcAft>
            </a:pPr>
            <a:r>
              <a:rPr sz="2200" b="0">
                <a:solidFill>
                  <a:srgbClr val="1A1A1A"/>
                </a:solidFill>
                <a:latin typeface="Calibri"/>
              </a:rPr>
              <a:t>•  Compare four models: Logistic Regression, LSTM, GRU, RoBERTa.</a:t>
            </a:r>
          </a:p>
          <a:p>
            <a:pPr>
              <a:spcAft>
                <a:spcPts val="1600"/>
              </a:spcAft>
            </a:pPr>
            <a:r>
              <a:rPr sz="2200" b="1">
                <a:solidFill>
                  <a:srgbClr val="1A1A1A"/>
                </a:solidFill>
                <a:latin typeface="Calibri"/>
              </a:rPr>
              <a:t>•  Beat the base paper (Esan et al., 77%) — on our data AND on their own data.</a:t>
            </a:r>
          </a:p>
          <a:p>
            <a:pPr>
              <a:spcAft>
                <a:spcPts val="1600"/>
              </a:spcAft>
            </a:pPr>
            <a:r>
              <a:rPr sz="2200" b="1">
                <a:solidFill>
                  <a:srgbClr val="548235"/>
                </a:solidFill>
                <a:latin typeface="Calibri"/>
              </a:rPr>
              <a:t>•  Add LIME so every prediction can be explained word by word.</a:t>
            </a:r>
          </a:p>
          <a:p>
            <a:pPr>
              <a:spcAft>
                <a:spcPts val="1600"/>
              </a:spcAft>
            </a:pPr>
            <a:r>
              <a:rPr sz="2200" b="0">
                <a:solidFill>
                  <a:srgbClr val="1A1A1A"/>
                </a:solidFill>
                <a:latin typeface="Calibri"/>
              </a:rPr>
              <a:t>•  Give an honest multi-dataset comparison against two reference studies.</a:t>
            </a:r>
          </a:p>
        </p:txBody>
      </p:sp>
      <p:sp>
        <p:nvSpPr>
          <p:cNvPr id="7" name="TextBox 6"/>
          <p:cNvSpPr txBox="1"/>
          <p:nvPr/>
        </p:nvSpPr>
        <p:spPr>
          <a:xfrm>
            <a:off x="365760" y="6446520"/>
            <a:ext cx="8229600" cy="365760"/>
          </a:xfrm>
          <a:prstGeom prst="rect">
            <a:avLst/>
          </a:prstGeom>
          <a:noFill/>
        </p:spPr>
        <p:txBody>
          <a:bodyPr wrap="square" anchor="t">
            <a:spAutoFit/>
          </a:bodyPr>
          <a:lstStyle/>
          <a:p>
            <a:pPr algn="l"/>
            <a:r>
              <a:rPr sz="1000" b="0">
                <a:solidFill>
                  <a:srgbClr val="6E6E6E"/>
                </a:solidFill>
                <a:latin typeface="Calibri"/>
              </a:rPr>
              <a:t>Explainable Cyberbullying Detection  •  RoBERTa + LIME</a:t>
            </a:r>
          </a:p>
        </p:txBody>
      </p:sp>
      <p:sp>
        <p:nvSpPr>
          <p:cNvPr id="8" name="TextBox 7"/>
          <p:cNvSpPr txBox="1"/>
          <p:nvPr/>
        </p:nvSpPr>
        <p:spPr>
          <a:xfrm>
            <a:off x="11247120" y="6446520"/>
            <a:ext cx="731520" cy="365760"/>
          </a:xfrm>
          <a:prstGeom prst="rect">
            <a:avLst/>
          </a:prstGeom>
          <a:noFill/>
        </p:spPr>
        <p:txBody>
          <a:bodyPr wrap="square" anchor="t">
            <a:spAutoFit/>
          </a:bodyPr>
          <a:lstStyle/>
          <a:p>
            <a:pPr algn="r"/>
            <a:r>
              <a:rPr sz="1100" b="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6400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241280" cy="868680"/>
          </a:xfrm>
          <a:prstGeom prst="rect">
            <a:avLst/>
          </a:prstGeom>
          <a:noFill/>
        </p:spPr>
        <p:txBody>
          <a:bodyPr wrap="square" anchor="ctr">
            <a:spAutoFit/>
          </a:bodyPr>
          <a:lstStyle/>
          <a:p>
            <a:pPr algn="l"/>
            <a:r>
              <a:rPr sz="2800" b="1">
                <a:solidFill>
                  <a:srgbClr val="FFFFFF"/>
                </a:solidFill>
                <a:latin typeface="Calibri"/>
              </a:rPr>
              <a:t>Related Work — Where We Fit</a:t>
            </a:r>
          </a:p>
        </p:txBody>
      </p:sp>
      <p:sp>
        <p:nvSpPr>
          <p:cNvPr id="5" name="TextBox 4"/>
          <p:cNvSpPr txBox="1"/>
          <p:nvPr/>
        </p:nvSpPr>
        <p:spPr>
          <a:xfrm>
            <a:off x="9692640" y="109728"/>
            <a:ext cx="2286000" cy="868680"/>
          </a:xfrm>
          <a:prstGeom prst="rect">
            <a:avLst/>
          </a:prstGeom>
          <a:noFill/>
        </p:spPr>
        <p:txBody>
          <a:bodyPr wrap="square" anchor="ctr">
            <a:spAutoFit/>
          </a:bodyPr>
          <a:lstStyle/>
          <a:p>
            <a:pPr algn="r"/>
            <a:r>
              <a:rPr sz="1200" b="1">
                <a:solidFill>
                  <a:srgbClr val="FFFFFF"/>
                </a:solidFill>
                <a:latin typeface="Calibri"/>
              </a:rPr>
              <a:t>Speaker 1</a:t>
            </a:r>
          </a:p>
        </p:txBody>
      </p:sp>
      <p:graphicFrame>
        <p:nvGraphicFramePr>
          <p:cNvPr id="6" name="Table 5"/>
          <p:cNvGraphicFramePr>
            <a:graphicFrameLocks noGrp="1"/>
          </p:cNvGraphicFramePr>
          <p:nvPr/>
        </p:nvGraphicFramePr>
        <p:xfrm>
          <a:off x="731520" y="1325880"/>
          <a:ext cx="10698480" cy="4754880"/>
        </p:xfrm>
        <a:graphic>
          <a:graphicData uri="http://schemas.openxmlformats.org/drawingml/2006/table">
            <a:tbl>
              <a:tblPr firstRow="1" bandRow="1">
                <a:tableStyleId>{5C22544A-7EE6-4342-B048-85BDC9FD1C3A}</a:tableStyleId>
              </a:tblPr>
              <a:tblGrid>
                <a:gridCol w="4206240"/>
                <a:gridCol w="3291840"/>
                <a:gridCol w="1737360"/>
                <a:gridCol w="1463040"/>
              </a:tblGrid>
              <a:tr h="594360">
                <a:tc>
                  <a:txBody>
                    <a:bodyPr/>
                    <a:lstStyle/>
                    <a:p>
                      <a:pPr algn="l"/>
                      <a:r>
                        <a:rPr b="1" sz="1600">
                          <a:solidFill>
                            <a:srgbClr val="FFFFFF"/>
                          </a:solidFill>
                          <a:latin typeface="Calibri"/>
                        </a:rPr>
                        <a:t>Study</a:t>
                      </a:r>
                    </a:p>
                  </a:txBody>
                  <a:tcPr anchor="ctr" marL="73152" marR="73152" marT="27432" marB="27432">
                    <a:solidFill>
                      <a:srgbClr val="1F4E79"/>
                    </a:solidFill>
                  </a:tcPr>
                </a:tc>
                <a:tc>
                  <a:txBody>
                    <a:bodyPr/>
                    <a:lstStyle/>
                    <a:p>
                      <a:pPr algn="ctr"/>
                      <a:r>
                        <a:rPr b="1" sz="1600">
                          <a:solidFill>
                            <a:srgbClr val="FFFFFF"/>
                          </a:solidFill>
                          <a:latin typeface="Calibri"/>
                        </a:rPr>
                        <a:t>Best Model</a:t>
                      </a:r>
                    </a:p>
                  </a:txBody>
                  <a:tcPr anchor="ctr" marL="73152" marR="73152" marT="27432" marB="27432">
                    <a:solidFill>
                      <a:srgbClr val="1F4E79"/>
                    </a:solidFill>
                  </a:tcPr>
                </a:tc>
                <a:tc>
                  <a:txBody>
                    <a:bodyPr/>
                    <a:lstStyle/>
                    <a:p>
                      <a:pPr algn="ctr"/>
                      <a:r>
                        <a:rPr b="1" sz="1600">
                          <a:solidFill>
                            <a:srgbClr val="FFFFFF"/>
                          </a:solidFill>
                          <a:latin typeface="Calibri"/>
                        </a:rPr>
                        <a:t>Accuracy</a:t>
                      </a:r>
                    </a:p>
                  </a:txBody>
                  <a:tcPr anchor="ctr" marL="73152" marR="73152" marT="27432" marB="27432">
                    <a:solidFill>
                      <a:srgbClr val="1F4E79"/>
                    </a:solidFill>
                  </a:tcPr>
                </a:tc>
                <a:tc>
                  <a:txBody>
                    <a:bodyPr/>
                    <a:lstStyle/>
                    <a:p>
                      <a:pPr algn="ctr"/>
                      <a:r>
                        <a:rPr b="1" sz="1600">
                          <a:solidFill>
                            <a:srgbClr val="FFFFFF"/>
                          </a:solidFill>
                          <a:latin typeface="Calibri"/>
                        </a:rPr>
                        <a:t>Explainable</a:t>
                      </a:r>
                    </a:p>
                  </a:txBody>
                  <a:tcPr anchor="ctr" marL="73152" marR="73152" marT="27432" marB="27432">
                    <a:solidFill>
                      <a:srgbClr val="1F4E79"/>
                    </a:solidFill>
                  </a:tcPr>
                </a:tc>
              </a:tr>
              <a:tr h="594360">
                <a:tc>
                  <a:txBody>
                    <a:bodyPr/>
                    <a:lstStyle/>
                    <a:p>
                      <a:pPr algn="l"/>
                      <a:r>
                        <a:rPr sz="1500">
                          <a:solidFill>
                            <a:srgbClr val="1A1A1A"/>
                          </a:solidFill>
                          <a:latin typeface="Calibri"/>
                        </a:rPr>
                        <a:t>Esan et al. (2024)  [base]</a:t>
                      </a:r>
                    </a:p>
                  </a:txBody>
                  <a:tcPr anchor="ctr" marL="73152" marR="73152" marT="27432" marB="27432">
                    <a:solidFill>
                      <a:srgbClr val="FFFFFF"/>
                    </a:solidFill>
                  </a:tcPr>
                </a:tc>
                <a:tc>
                  <a:txBody>
                    <a:bodyPr/>
                    <a:lstStyle/>
                    <a:p>
                      <a:pPr algn="ctr"/>
                      <a:r>
                        <a:rPr sz="1500">
                          <a:solidFill>
                            <a:srgbClr val="1A1A1A"/>
                          </a:solidFill>
                          <a:latin typeface="Calibri"/>
                        </a:rPr>
                        <a:t>LSTM</a:t>
                      </a:r>
                    </a:p>
                  </a:txBody>
                  <a:tcPr anchor="ctr" marL="73152" marR="73152" marT="27432" marB="27432">
                    <a:solidFill>
                      <a:srgbClr val="FFFFFF"/>
                    </a:solidFill>
                  </a:tcPr>
                </a:tc>
                <a:tc>
                  <a:txBody>
                    <a:bodyPr/>
                    <a:lstStyle/>
                    <a:p>
                      <a:pPr algn="ctr"/>
                      <a:r>
                        <a:rPr sz="1500">
                          <a:solidFill>
                            <a:srgbClr val="1A1A1A"/>
                          </a:solidFill>
                          <a:latin typeface="Calibri"/>
                        </a:rPr>
                        <a:t>77.00%</a:t>
                      </a:r>
                    </a:p>
                  </a:txBody>
                  <a:tcPr anchor="ctr" marL="73152" marR="73152" marT="27432" marB="27432">
                    <a:solidFill>
                      <a:srgbClr val="FFFFFF"/>
                    </a:solidFill>
                  </a:tcPr>
                </a:tc>
                <a:tc>
                  <a:txBody>
                    <a:bodyPr/>
                    <a:lstStyle/>
                    <a:p>
                      <a:pPr algn="ctr"/>
                      <a:r>
                        <a:rPr sz="1500">
                          <a:solidFill>
                            <a:srgbClr val="1A1A1A"/>
                          </a:solidFill>
                          <a:latin typeface="Calibri"/>
                        </a:rPr>
                        <a:t>No</a:t>
                      </a:r>
                    </a:p>
                  </a:txBody>
                  <a:tcPr anchor="ctr" marL="73152" marR="73152" marT="27432" marB="27432">
                    <a:solidFill>
                      <a:srgbClr val="FFFFFF"/>
                    </a:solidFill>
                  </a:tcPr>
                </a:tc>
              </a:tr>
              <a:tr h="594360">
                <a:tc>
                  <a:txBody>
                    <a:bodyPr/>
                    <a:lstStyle/>
                    <a:p>
                      <a:pPr algn="l"/>
                      <a:r>
                        <a:rPr sz="1500">
                          <a:solidFill>
                            <a:srgbClr val="1A1A1A"/>
                          </a:solidFill>
                          <a:latin typeface="Calibri"/>
                        </a:rPr>
                        <a:t>Ogunleye &amp; Dharmaraj (2023)</a:t>
                      </a:r>
                    </a:p>
                  </a:txBody>
                  <a:tcPr anchor="ctr" marL="73152" marR="73152" marT="27432" marB="27432">
                    <a:solidFill>
                      <a:srgbClr val="DEEBF7"/>
                    </a:solidFill>
                  </a:tcPr>
                </a:tc>
                <a:tc>
                  <a:txBody>
                    <a:bodyPr/>
                    <a:lstStyle/>
                    <a:p>
                      <a:pPr algn="ctr"/>
                      <a:r>
                        <a:rPr sz="1500">
                          <a:solidFill>
                            <a:srgbClr val="1A1A1A"/>
                          </a:solidFill>
                          <a:latin typeface="Calibri"/>
                        </a:rPr>
                        <a:t>RoBERTa</a:t>
                      </a:r>
                    </a:p>
                  </a:txBody>
                  <a:tcPr anchor="ctr" marL="73152" marR="73152" marT="27432" marB="27432">
                    <a:solidFill>
                      <a:srgbClr val="DEEBF7"/>
                    </a:solidFill>
                  </a:tcPr>
                </a:tc>
                <a:tc>
                  <a:txBody>
                    <a:bodyPr/>
                    <a:lstStyle/>
                    <a:p>
                      <a:pPr algn="ctr"/>
                      <a:r>
                        <a:rPr sz="1500">
                          <a:solidFill>
                            <a:srgbClr val="1A1A1A"/>
                          </a:solidFill>
                          <a:latin typeface="Calibri"/>
                        </a:rPr>
                        <a:t>87.00%</a:t>
                      </a:r>
                    </a:p>
                  </a:txBody>
                  <a:tcPr anchor="ctr" marL="73152" marR="73152" marT="27432" marB="27432">
                    <a:solidFill>
                      <a:srgbClr val="DEEBF7"/>
                    </a:solidFill>
                  </a:tcPr>
                </a:tc>
                <a:tc>
                  <a:txBody>
                    <a:bodyPr/>
                    <a:lstStyle/>
                    <a:p>
                      <a:pPr algn="ctr"/>
                      <a:r>
                        <a:rPr sz="1500">
                          <a:solidFill>
                            <a:srgbClr val="1A1A1A"/>
                          </a:solidFill>
                          <a:latin typeface="Calibri"/>
                        </a:rPr>
                        <a:t>No</a:t>
                      </a:r>
                    </a:p>
                  </a:txBody>
                  <a:tcPr anchor="ctr" marL="73152" marR="73152" marT="27432" marB="27432">
                    <a:solidFill>
                      <a:srgbClr val="DEEBF7"/>
                    </a:solidFill>
                  </a:tcPr>
                </a:tc>
              </a:tr>
              <a:tr h="594360">
                <a:tc>
                  <a:txBody>
                    <a:bodyPr/>
                    <a:lstStyle/>
                    <a:p>
                      <a:pPr algn="l"/>
                      <a:r>
                        <a:rPr sz="1500">
                          <a:solidFill>
                            <a:srgbClr val="1A1A1A"/>
                          </a:solidFill>
                          <a:latin typeface="Calibri"/>
                        </a:rPr>
                        <a:t>Muneer et al. (2023)</a:t>
                      </a:r>
                    </a:p>
                  </a:txBody>
                  <a:tcPr anchor="ctr" marL="73152" marR="73152" marT="27432" marB="27432">
                    <a:solidFill>
                      <a:srgbClr val="FFFFFF"/>
                    </a:solidFill>
                  </a:tcPr>
                </a:tc>
                <a:tc>
                  <a:txBody>
                    <a:bodyPr/>
                    <a:lstStyle/>
                    <a:p>
                      <a:pPr algn="ctr"/>
                      <a:r>
                        <a:rPr sz="1500">
                          <a:solidFill>
                            <a:srgbClr val="1A1A1A"/>
                          </a:solidFill>
                          <a:latin typeface="Calibri"/>
                        </a:rPr>
                        <a:t>BERT+biLSTM+CNN</a:t>
                      </a:r>
                    </a:p>
                  </a:txBody>
                  <a:tcPr anchor="ctr" marL="73152" marR="73152" marT="27432" marB="27432">
                    <a:solidFill>
                      <a:srgbClr val="FFFFFF"/>
                    </a:solidFill>
                  </a:tcPr>
                </a:tc>
                <a:tc>
                  <a:txBody>
                    <a:bodyPr/>
                    <a:lstStyle/>
                    <a:p>
                      <a:pPr algn="ctr"/>
                      <a:r>
                        <a:rPr sz="1500">
                          <a:solidFill>
                            <a:srgbClr val="1A1A1A"/>
                          </a:solidFill>
                          <a:latin typeface="Calibri"/>
                        </a:rPr>
                        <a:t>97.40%</a:t>
                      </a:r>
                    </a:p>
                  </a:txBody>
                  <a:tcPr anchor="ctr" marL="73152" marR="73152" marT="27432" marB="27432">
                    <a:solidFill>
                      <a:srgbClr val="FFFFFF"/>
                    </a:solidFill>
                  </a:tcPr>
                </a:tc>
                <a:tc>
                  <a:txBody>
                    <a:bodyPr/>
                    <a:lstStyle/>
                    <a:p>
                      <a:pPr algn="ctr"/>
                      <a:r>
                        <a:rPr sz="1500">
                          <a:solidFill>
                            <a:srgbClr val="1A1A1A"/>
                          </a:solidFill>
                          <a:latin typeface="Calibri"/>
                        </a:rPr>
                        <a:t>No</a:t>
                      </a:r>
                    </a:p>
                  </a:txBody>
                  <a:tcPr anchor="ctr" marL="73152" marR="73152" marT="27432" marB="27432">
                    <a:solidFill>
                      <a:srgbClr val="FFFFFF"/>
                    </a:solidFill>
                  </a:tcPr>
                </a:tc>
              </a:tr>
              <a:tr h="594360">
                <a:tc>
                  <a:txBody>
                    <a:bodyPr/>
                    <a:lstStyle/>
                    <a:p>
                      <a:pPr algn="l"/>
                      <a:r>
                        <a:rPr sz="1500">
                          <a:solidFill>
                            <a:srgbClr val="1A1A1A"/>
                          </a:solidFill>
                          <a:latin typeface="Calibri"/>
                        </a:rPr>
                        <a:t>Alrowais (2024)</a:t>
                      </a:r>
                    </a:p>
                  </a:txBody>
                  <a:tcPr anchor="ctr" marL="73152" marR="73152" marT="27432" marB="27432">
                    <a:solidFill>
                      <a:srgbClr val="DEEBF7"/>
                    </a:solidFill>
                  </a:tcPr>
                </a:tc>
                <a:tc>
                  <a:txBody>
                    <a:bodyPr/>
                    <a:lstStyle/>
                    <a:p>
                      <a:pPr algn="ctr"/>
                      <a:r>
                        <a:rPr sz="1500">
                          <a:solidFill>
                            <a:srgbClr val="1A1A1A"/>
                          </a:solidFill>
                          <a:latin typeface="Calibri"/>
                        </a:rPr>
                        <a:t>RoBERTa + GloVe</a:t>
                      </a:r>
                    </a:p>
                  </a:txBody>
                  <a:tcPr anchor="ctr" marL="73152" marR="73152" marT="27432" marB="27432">
                    <a:solidFill>
                      <a:srgbClr val="DEEBF7"/>
                    </a:solidFill>
                  </a:tcPr>
                </a:tc>
                <a:tc>
                  <a:txBody>
                    <a:bodyPr/>
                    <a:lstStyle/>
                    <a:p>
                      <a:pPr algn="ctr"/>
                      <a:r>
                        <a:rPr sz="1500">
                          <a:solidFill>
                            <a:srgbClr val="1A1A1A"/>
                          </a:solidFill>
                          <a:latin typeface="Calibri"/>
                        </a:rPr>
                        <a:t>95.00%</a:t>
                      </a:r>
                    </a:p>
                  </a:txBody>
                  <a:tcPr anchor="ctr" marL="73152" marR="73152" marT="27432" marB="27432">
                    <a:solidFill>
                      <a:srgbClr val="DEEBF7"/>
                    </a:solidFill>
                  </a:tcPr>
                </a:tc>
                <a:tc>
                  <a:txBody>
                    <a:bodyPr/>
                    <a:lstStyle/>
                    <a:p>
                      <a:pPr algn="ctr"/>
                      <a:r>
                        <a:rPr sz="1500">
                          <a:solidFill>
                            <a:srgbClr val="1A1A1A"/>
                          </a:solidFill>
                          <a:latin typeface="Calibri"/>
                        </a:rPr>
                        <a:t>No</a:t>
                      </a:r>
                    </a:p>
                  </a:txBody>
                  <a:tcPr anchor="ctr" marL="73152" marR="73152" marT="27432" marB="27432">
                    <a:solidFill>
                      <a:srgbClr val="DEEBF7"/>
                    </a:solidFill>
                  </a:tcPr>
                </a:tc>
              </a:tr>
              <a:tr h="594360">
                <a:tc>
                  <a:txBody>
                    <a:bodyPr/>
                    <a:lstStyle/>
                    <a:p>
                      <a:pPr algn="l"/>
                      <a:r>
                        <a:rPr sz="1500">
                          <a:solidFill>
                            <a:srgbClr val="1A1A1A"/>
                          </a:solidFill>
                          <a:latin typeface="Calibri"/>
                        </a:rPr>
                        <a:t>Sihab-Us-Sakib (2024)</a:t>
                      </a:r>
                    </a:p>
                  </a:txBody>
                  <a:tcPr anchor="ctr" marL="73152" marR="73152" marT="27432" marB="27432">
                    <a:solidFill>
                      <a:srgbClr val="FFFFFF"/>
                    </a:solidFill>
                  </a:tcPr>
                </a:tc>
                <a:tc>
                  <a:txBody>
                    <a:bodyPr/>
                    <a:lstStyle/>
                    <a:p>
                      <a:pPr algn="ctr"/>
                      <a:r>
                        <a:rPr sz="1500">
                          <a:solidFill>
                            <a:srgbClr val="1A1A1A"/>
                          </a:solidFill>
                          <a:latin typeface="Calibri"/>
                        </a:rPr>
                        <a:t>XLM-RoBERTa</a:t>
                      </a:r>
                    </a:p>
                  </a:txBody>
                  <a:tcPr anchor="ctr" marL="73152" marR="73152" marT="27432" marB="27432">
                    <a:solidFill>
                      <a:srgbClr val="FFFFFF"/>
                    </a:solidFill>
                  </a:tcPr>
                </a:tc>
                <a:tc>
                  <a:txBody>
                    <a:bodyPr/>
                    <a:lstStyle/>
                    <a:p>
                      <a:pPr algn="ctr"/>
                      <a:r>
                        <a:rPr sz="1500">
                          <a:solidFill>
                            <a:srgbClr val="1A1A1A"/>
                          </a:solidFill>
                          <a:latin typeface="Calibri"/>
                        </a:rPr>
                        <a:t>82.61%</a:t>
                      </a:r>
                    </a:p>
                  </a:txBody>
                  <a:tcPr anchor="ctr" marL="73152" marR="73152" marT="27432" marB="27432">
                    <a:solidFill>
                      <a:srgbClr val="FFFFFF"/>
                    </a:solidFill>
                  </a:tcPr>
                </a:tc>
                <a:tc>
                  <a:txBody>
                    <a:bodyPr/>
                    <a:lstStyle/>
                    <a:p>
                      <a:pPr algn="ctr"/>
                      <a:r>
                        <a:rPr sz="1500">
                          <a:solidFill>
                            <a:srgbClr val="1A1A1A"/>
                          </a:solidFill>
                          <a:latin typeface="Calibri"/>
                        </a:rPr>
                        <a:t>No</a:t>
                      </a:r>
                    </a:p>
                  </a:txBody>
                  <a:tcPr anchor="ctr" marL="73152" marR="73152" marT="27432" marB="27432">
                    <a:solidFill>
                      <a:srgbClr val="FFFFFF"/>
                    </a:solidFill>
                  </a:tcPr>
                </a:tc>
              </a:tr>
              <a:tr h="594360">
                <a:tc>
                  <a:txBody>
                    <a:bodyPr/>
                    <a:lstStyle/>
                    <a:p>
                      <a:pPr algn="l"/>
                      <a:r>
                        <a:rPr sz="1500">
                          <a:solidFill>
                            <a:srgbClr val="1A1A1A"/>
                          </a:solidFill>
                          <a:latin typeface="Calibri"/>
                        </a:rPr>
                        <a:t>Azhar &amp; Runa (2025)</a:t>
                      </a:r>
                    </a:p>
                  </a:txBody>
                  <a:tcPr anchor="ctr" marL="73152" marR="73152" marT="27432" marB="27432">
                    <a:solidFill>
                      <a:srgbClr val="DEEBF7"/>
                    </a:solidFill>
                  </a:tcPr>
                </a:tc>
                <a:tc>
                  <a:txBody>
                    <a:bodyPr/>
                    <a:lstStyle/>
                    <a:p>
                      <a:pPr algn="ctr"/>
                      <a:r>
                        <a:rPr sz="1500">
                          <a:solidFill>
                            <a:srgbClr val="1A1A1A"/>
                          </a:solidFill>
                          <a:latin typeface="Calibri"/>
                        </a:rPr>
                        <a:t>RoBERTa</a:t>
                      </a:r>
                    </a:p>
                  </a:txBody>
                  <a:tcPr anchor="ctr" marL="73152" marR="73152" marT="27432" marB="27432">
                    <a:solidFill>
                      <a:srgbClr val="DEEBF7"/>
                    </a:solidFill>
                  </a:tcPr>
                </a:tc>
                <a:tc>
                  <a:txBody>
                    <a:bodyPr/>
                    <a:lstStyle/>
                    <a:p>
                      <a:pPr algn="ctr"/>
                      <a:r>
                        <a:rPr sz="1500">
                          <a:solidFill>
                            <a:srgbClr val="1A1A1A"/>
                          </a:solidFill>
                          <a:latin typeface="Calibri"/>
                        </a:rPr>
                        <a:t>83.90%</a:t>
                      </a:r>
                    </a:p>
                  </a:txBody>
                  <a:tcPr anchor="ctr" marL="73152" marR="73152" marT="27432" marB="27432">
                    <a:solidFill>
                      <a:srgbClr val="DEEBF7"/>
                    </a:solidFill>
                  </a:tcPr>
                </a:tc>
                <a:tc>
                  <a:txBody>
                    <a:bodyPr/>
                    <a:lstStyle/>
                    <a:p>
                      <a:pPr algn="ctr"/>
                      <a:r>
                        <a:rPr sz="1500">
                          <a:solidFill>
                            <a:srgbClr val="1A1A1A"/>
                          </a:solidFill>
                          <a:latin typeface="Calibri"/>
                        </a:rPr>
                        <a:t>No</a:t>
                      </a:r>
                    </a:p>
                  </a:txBody>
                  <a:tcPr anchor="ctr" marL="73152" marR="73152" marT="27432" marB="27432">
                    <a:solidFill>
                      <a:srgbClr val="DEEBF7"/>
                    </a:solidFill>
                  </a:tcPr>
                </a:tc>
              </a:tr>
              <a:tr h="594360">
                <a:tc>
                  <a:txBody>
                    <a:bodyPr/>
                    <a:lstStyle/>
                    <a:p>
                      <a:pPr algn="l"/>
                      <a:r>
                        <a:rPr sz="1500">
                          <a:solidFill>
                            <a:srgbClr val="1A1A1A"/>
                          </a:solidFill>
                          <a:latin typeface="Calibri"/>
                        </a:rPr>
                        <a:t>Our Work</a:t>
                      </a:r>
                    </a:p>
                  </a:txBody>
                  <a:tcPr anchor="ctr" marL="73152" marR="73152" marT="27432" marB="27432">
                    <a:solidFill>
                      <a:srgbClr val="FFF2CC"/>
                    </a:solidFill>
                  </a:tcPr>
                </a:tc>
                <a:tc>
                  <a:txBody>
                    <a:bodyPr/>
                    <a:lstStyle/>
                    <a:p>
                      <a:pPr algn="ctr"/>
                      <a:r>
                        <a:rPr sz="1500">
                          <a:solidFill>
                            <a:srgbClr val="1A1A1A"/>
                          </a:solidFill>
                          <a:latin typeface="Calibri"/>
                        </a:rPr>
                        <a:t>RoBERTa + LIME</a:t>
                      </a:r>
                    </a:p>
                  </a:txBody>
                  <a:tcPr anchor="ctr" marL="73152" marR="73152" marT="27432" marB="27432">
                    <a:solidFill>
                      <a:srgbClr val="FFF2CC"/>
                    </a:solidFill>
                  </a:tcPr>
                </a:tc>
                <a:tc>
                  <a:txBody>
                    <a:bodyPr/>
                    <a:lstStyle/>
                    <a:p>
                      <a:pPr algn="ctr"/>
                      <a:r>
                        <a:rPr sz="1500">
                          <a:solidFill>
                            <a:srgbClr val="1A1A1A"/>
                          </a:solidFill>
                          <a:latin typeface="Calibri"/>
                        </a:rPr>
                        <a:t>92.33%</a:t>
                      </a:r>
                    </a:p>
                  </a:txBody>
                  <a:tcPr anchor="ctr" marL="73152" marR="73152" marT="27432" marB="27432">
                    <a:solidFill>
                      <a:srgbClr val="FFF2CC"/>
                    </a:solidFill>
                  </a:tcPr>
                </a:tc>
                <a:tc>
                  <a:txBody>
                    <a:bodyPr/>
                    <a:lstStyle/>
                    <a:p>
                      <a:pPr algn="ctr"/>
                      <a:r>
                        <a:rPr sz="1500">
                          <a:solidFill>
                            <a:srgbClr val="1A1A1A"/>
                          </a:solidFill>
                          <a:latin typeface="Calibri"/>
                        </a:rPr>
                        <a:t>Yes</a:t>
                      </a:r>
                    </a:p>
                  </a:txBody>
                  <a:tcPr anchor="ctr" marL="73152" marR="73152" marT="27432" marB="27432">
                    <a:solidFill>
                      <a:srgbClr val="FFF2CC"/>
                    </a:solidFill>
                  </a:tcPr>
                </a:tc>
              </a:tr>
            </a:tbl>
          </a:graphicData>
        </a:graphic>
      </p:graphicFrame>
      <p:sp>
        <p:nvSpPr>
          <p:cNvPr id="7" name="TextBox 6"/>
          <p:cNvSpPr txBox="1"/>
          <p:nvPr/>
        </p:nvSpPr>
        <p:spPr>
          <a:xfrm>
            <a:off x="731520" y="6172200"/>
            <a:ext cx="10698480" cy="457200"/>
          </a:xfrm>
          <a:prstGeom prst="rect">
            <a:avLst/>
          </a:prstGeom>
          <a:noFill/>
        </p:spPr>
        <p:txBody>
          <a:bodyPr wrap="square" anchor="t">
            <a:spAutoFit/>
          </a:bodyPr>
          <a:lstStyle/>
          <a:p>
            <a:pPr algn="l"/>
            <a:r>
              <a:rPr sz="1400" b="1">
                <a:solidFill>
                  <a:srgbClr val="C55A11"/>
                </a:solidFill>
                <a:latin typeface="Calibri"/>
              </a:rPr>
              <a:t>We reviewed 12 studies — almost none explain their decisions. That gap is our contribution.</a:t>
            </a:r>
          </a:p>
        </p:txBody>
      </p:sp>
      <p:sp>
        <p:nvSpPr>
          <p:cNvPr id="8" name="TextBox 7"/>
          <p:cNvSpPr txBox="1"/>
          <p:nvPr/>
        </p:nvSpPr>
        <p:spPr>
          <a:xfrm>
            <a:off x="365760" y="6446520"/>
            <a:ext cx="8229600" cy="365760"/>
          </a:xfrm>
          <a:prstGeom prst="rect">
            <a:avLst/>
          </a:prstGeom>
          <a:noFill/>
        </p:spPr>
        <p:txBody>
          <a:bodyPr wrap="square" anchor="t">
            <a:spAutoFit/>
          </a:bodyPr>
          <a:lstStyle/>
          <a:p>
            <a:pPr algn="l"/>
            <a:r>
              <a:rPr sz="1000" b="0">
                <a:solidFill>
                  <a:srgbClr val="6E6E6E"/>
                </a:solidFill>
                <a:latin typeface="Calibri"/>
              </a:rPr>
              <a:t>Explainable Cyberbullying Detection  •  RoBERTa + LIME</a:t>
            </a:r>
          </a:p>
        </p:txBody>
      </p:sp>
      <p:sp>
        <p:nvSpPr>
          <p:cNvPr id="9" name="TextBox 8"/>
          <p:cNvSpPr txBox="1"/>
          <p:nvPr/>
        </p:nvSpPr>
        <p:spPr>
          <a:xfrm>
            <a:off x="11247120" y="6446520"/>
            <a:ext cx="731520" cy="365760"/>
          </a:xfrm>
          <a:prstGeom prst="rect">
            <a:avLst/>
          </a:prstGeom>
          <a:noFill/>
        </p:spPr>
        <p:txBody>
          <a:bodyPr wrap="square" anchor="t">
            <a:spAutoFit/>
          </a:bodyPr>
          <a:lstStyle/>
          <a:p>
            <a:pPr algn="r"/>
            <a:r>
              <a:rPr sz="1100" b="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6400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241280" cy="868680"/>
          </a:xfrm>
          <a:prstGeom prst="rect">
            <a:avLst/>
          </a:prstGeom>
          <a:noFill/>
        </p:spPr>
        <p:txBody>
          <a:bodyPr wrap="square" anchor="ctr">
            <a:spAutoFit/>
          </a:bodyPr>
          <a:lstStyle/>
          <a:p>
            <a:pPr algn="l"/>
            <a:r>
              <a:rPr sz="2800" b="1">
                <a:solidFill>
                  <a:srgbClr val="FFFFFF"/>
                </a:solidFill>
                <a:latin typeface="Calibri"/>
              </a:rPr>
              <a:t>Dataset</a:t>
            </a:r>
          </a:p>
        </p:txBody>
      </p:sp>
      <p:sp>
        <p:nvSpPr>
          <p:cNvPr id="5" name="TextBox 4"/>
          <p:cNvSpPr txBox="1"/>
          <p:nvPr/>
        </p:nvSpPr>
        <p:spPr>
          <a:xfrm>
            <a:off x="9692640" y="109728"/>
            <a:ext cx="2286000" cy="868680"/>
          </a:xfrm>
          <a:prstGeom prst="rect">
            <a:avLst/>
          </a:prstGeom>
          <a:noFill/>
        </p:spPr>
        <p:txBody>
          <a:bodyPr wrap="square" anchor="ctr">
            <a:spAutoFit/>
          </a:bodyPr>
          <a:lstStyle/>
          <a:p>
            <a:pPr algn="r"/>
            <a:r>
              <a:rPr sz="1200" b="1">
                <a:solidFill>
                  <a:srgbClr val="FFFFFF"/>
                </a:solidFill>
                <a:latin typeface="Calibri"/>
              </a:rPr>
              <a:t>Speaker 1</a:t>
            </a:r>
          </a:p>
        </p:txBody>
      </p:sp>
      <p:sp>
        <p:nvSpPr>
          <p:cNvPr id="6" name="TextBox 5"/>
          <p:cNvSpPr txBox="1"/>
          <p:nvPr/>
        </p:nvSpPr>
        <p:spPr>
          <a:xfrm>
            <a:off x="457200" y="1280160"/>
            <a:ext cx="4206240" cy="4572000"/>
          </a:xfrm>
          <a:prstGeom prst="rect">
            <a:avLst/>
          </a:prstGeom>
          <a:noFill/>
        </p:spPr>
        <p:txBody>
          <a:bodyPr wrap="square">
            <a:spAutoFit/>
          </a:bodyPr>
          <a:lstStyle/>
          <a:p>
            <a:pPr>
              <a:spcAft>
                <a:spcPts val="1200"/>
              </a:spcAft>
            </a:pPr>
            <a:r>
              <a:rPr sz="1800" b="1">
                <a:solidFill>
                  <a:srgbClr val="1A1A1A"/>
                </a:solidFill>
                <a:latin typeface="Calibri"/>
              </a:rPr>
              <a:t>•  ~4,000 English comments</a:t>
            </a:r>
          </a:p>
          <a:p>
            <a:pPr>
              <a:spcAft>
                <a:spcPts val="1200"/>
              </a:spcAft>
            </a:pPr>
            <a:r>
              <a:rPr sz="1800" b="0">
                <a:solidFill>
                  <a:srgbClr val="1A1A1A"/>
                </a:solidFill>
                <a:latin typeface="Calibri"/>
              </a:rPr>
              <a:t>•  1,000 self-collected: YouTube, Reddit, Facebook</a:t>
            </a:r>
          </a:p>
          <a:p>
            <a:pPr>
              <a:spcAft>
                <a:spcPts val="1200"/>
              </a:spcAft>
            </a:pPr>
            <a:r>
              <a:rPr sz="1800" b="0">
                <a:solidFill>
                  <a:srgbClr val="1A1A1A"/>
                </a:solidFill>
                <a:latin typeface="Calibri"/>
              </a:rPr>
              <a:t>•  3,000 from Jigsaw toxic-comment corpus</a:t>
            </a:r>
          </a:p>
          <a:p>
            <a:pPr>
              <a:spcAft>
                <a:spcPts val="1200"/>
              </a:spcAft>
            </a:pPr>
            <a:r>
              <a:rPr sz="1800" b="1">
                <a:solidFill>
                  <a:srgbClr val="548235"/>
                </a:solidFill>
                <a:latin typeface="Calibri"/>
              </a:rPr>
              <a:t>•  Near-balanced:  2,059 Not-Bullying / 1,941 Bullying</a:t>
            </a:r>
          </a:p>
          <a:p>
            <a:pPr>
              <a:spcAft>
                <a:spcPts val="1200"/>
              </a:spcAft>
            </a:pPr>
            <a:r>
              <a:rPr sz="1800" b="0">
                <a:solidFill>
                  <a:srgbClr val="6E6E6E"/>
                </a:solidFill>
                <a:latin typeface="Calibri"/>
              </a:rPr>
              <a:t>•  0 = Not-Bullying,  1 = Bullying</a:t>
            </a:r>
          </a:p>
          <a:p>
            <a:pPr>
              <a:spcAft>
                <a:spcPts val="1200"/>
              </a:spcAft>
            </a:pPr>
            <a:r>
              <a:rPr sz="1800" b="0">
                <a:solidFill>
                  <a:srgbClr val="6E6E6E"/>
                </a:solidFill>
                <a:latin typeface="Calibri"/>
              </a:rPr>
              <a:t>•  Avg length ~22.6 words</a:t>
            </a:r>
          </a:p>
        </p:txBody>
      </p:sp>
      <p:pic>
        <p:nvPicPr>
          <p:cNvPr id="7" name="Picture 6" descr="class_distribution.png"/>
          <p:cNvPicPr>
            <a:picLocks noChangeAspect="1"/>
          </p:cNvPicPr>
          <p:nvPr/>
        </p:nvPicPr>
        <p:blipFill>
          <a:blip r:embed="rId2"/>
          <a:stretch>
            <a:fillRect/>
          </a:stretch>
        </p:blipFill>
        <p:spPr>
          <a:xfrm>
            <a:off x="5394960" y="1463040"/>
            <a:ext cx="3108960" cy="2225539"/>
          </a:xfrm>
          <a:prstGeom prst="rect">
            <a:avLst/>
          </a:prstGeom>
        </p:spPr>
      </p:pic>
      <p:pic>
        <p:nvPicPr>
          <p:cNvPr id="8" name="Picture 7" descr="text_length.png"/>
          <p:cNvPicPr>
            <a:picLocks noChangeAspect="1"/>
          </p:cNvPicPr>
          <p:nvPr/>
        </p:nvPicPr>
        <p:blipFill>
          <a:blip r:embed="rId3"/>
          <a:stretch>
            <a:fillRect/>
          </a:stretch>
        </p:blipFill>
        <p:spPr>
          <a:xfrm>
            <a:off x="8595360" y="1463040"/>
            <a:ext cx="3108960" cy="2099441"/>
          </a:xfrm>
          <a:prstGeom prst="rect">
            <a:avLst/>
          </a:prstGeom>
        </p:spPr>
      </p:pic>
      <p:sp>
        <p:nvSpPr>
          <p:cNvPr id="9" name="TextBox 8"/>
          <p:cNvSpPr txBox="1"/>
          <p:nvPr/>
        </p:nvSpPr>
        <p:spPr>
          <a:xfrm>
            <a:off x="5486400" y="4114800"/>
            <a:ext cx="6492240" cy="457200"/>
          </a:xfrm>
          <a:prstGeom prst="rect">
            <a:avLst/>
          </a:prstGeom>
          <a:noFill/>
        </p:spPr>
        <p:txBody>
          <a:bodyPr wrap="square" anchor="t">
            <a:spAutoFit/>
          </a:bodyPr>
          <a:lstStyle/>
          <a:p>
            <a:pPr algn="l"/>
            <a:r>
              <a:rPr sz="1300" b="0">
                <a:solidFill>
                  <a:srgbClr val="6E6E6E"/>
                </a:solidFill>
                <a:latin typeface="Calibri"/>
              </a:rPr>
              <a:t>Left: class balance.     Right: comment-length distribution.</a:t>
            </a:r>
          </a:p>
        </p:txBody>
      </p:sp>
      <p:sp>
        <p:nvSpPr>
          <p:cNvPr id="10" name="TextBox 9"/>
          <p:cNvSpPr txBox="1"/>
          <p:nvPr/>
        </p:nvSpPr>
        <p:spPr>
          <a:xfrm>
            <a:off x="365760" y="6446520"/>
            <a:ext cx="8229600" cy="365760"/>
          </a:xfrm>
          <a:prstGeom prst="rect">
            <a:avLst/>
          </a:prstGeom>
          <a:noFill/>
        </p:spPr>
        <p:txBody>
          <a:bodyPr wrap="square" anchor="t">
            <a:spAutoFit/>
          </a:bodyPr>
          <a:lstStyle/>
          <a:p>
            <a:pPr algn="l"/>
            <a:r>
              <a:rPr sz="1000" b="0">
                <a:solidFill>
                  <a:srgbClr val="6E6E6E"/>
                </a:solidFill>
                <a:latin typeface="Calibri"/>
              </a:rPr>
              <a:t>Explainable Cyberbullying Detection  •  RoBERTa + LIME</a:t>
            </a:r>
          </a:p>
        </p:txBody>
      </p:sp>
      <p:sp>
        <p:nvSpPr>
          <p:cNvPr id="11" name="TextBox 10"/>
          <p:cNvSpPr txBox="1"/>
          <p:nvPr/>
        </p:nvSpPr>
        <p:spPr>
          <a:xfrm>
            <a:off x="11247120" y="6446520"/>
            <a:ext cx="731520" cy="365760"/>
          </a:xfrm>
          <a:prstGeom prst="rect">
            <a:avLst/>
          </a:prstGeom>
          <a:noFill/>
        </p:spPr>
        <p:txBody>
          <a:bodyPr wrap="square" anchor="t">
            <a:spAutoFit/>
          </a:bodyPr>
          <a:lstStyle/>
          <a:p>
            <a:pPr algn="r"/>
            <a:r>
              <a:rPr sz="1100" b="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6400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241280" cy="868680"/>
          </a:xfrm>
          <a:prstGeom prst="rect">
            <a:avLst/>
          </a:prstGeom>
          <a:noFill/>
        </p:spPr>
        <p:txBody>
          <a:bodyPr wrap="square" anchor="ctr">
            <a:spAutoFit/>
          </a:bodyPr>
          <a:lstStyle/>
          <a:p>
            <a:pPr algn="l"/>
            <a:r>
              <a:rPr sz="2800" b="1">
                <a:solidFill>
                  <a:srgbClr val="FFFFFF"/>
                </a:solidFill>
                <a:latin typeface="Calibri"/>
              </a:rPr>
              <a:t>Dataset Examples (6 Bully Types)</a:t>
            </a:r>
          </a:p>
        </p:txBody>
      </p:sp>
      <p:sp>
        <p:nvSpPr>
          <p:cNvPr id="5" name="TextBox 4"/>
          <p:cNvSpPr txBox="1"/>
          <p:nvPr/>
        </p:nvSpPr>
        <p:spPr>
          <a:xfrm>
            <a:off x="9692640" y="109728"/>
            <a:ext cx="2286000" cy="868680"/>
          </a:xfrm>
          <a:prstGeom prst="rect">
            <a:avLst/>
          </a:prstGeom>
          <a:noFill/>
        </p:spPr>
        <p:txBody>
          <a:bodyPr wrap="square" anchor="ctr">
            <a:spAutoFit/>
          </a:bodyPr>
          <a:lstStyle/>
          <a:p>
            <a:pPr algn="r"/>
            <a:r>
              <a:rPr sz="1200" b="1">
                <a:solidFill>
                  <a:srgbClr val="FFFFFF"/>
                </a:solidFill>
                <a:latin typeface="Calibri"/>
              </a:rPr>
              <a:t>Speaker 1</a:t>
            </a:r>
          </a:p>
        </p:txBody>
      </p:sp>
      <p:graphicFrame>
        <p:nvGraphicFramePr>
          <p:cNvPr id="6" name="Table 5"/>
          <p:cNvGraphicFramePr>
            <a:graphicFrameLocks noGrp="1"/>
          </p:cNvGraphicFramePr>
          <p:nvPr/>
        </p:nvGraphicFramePr>
        <p:xfrm>
          <a:off x="640080" y="1371600"/>
          <a:ext cx="10881360" cy="4206240"/>
        </p:xfrm>
        <a:graphic>
          <a:graphicData uri="http://schemas.openxmlformats.org/drawingml/2006/table">
            <a:tbl>
              <a:tblPr firstRow="1" bandRow="1">
                <a:tableStyleId>{5C22544A-7EE6-4342-B048-85BDC9FD1C3A}</a:tableStyleId>
              </a:tblPr>
              <a:tblGrid>
                <a:gridCol w="7223760"/>
                <a:gridCol w="1920240"/>
                <a:gridCol w="1737360"/>
              </a:tblGrid>
              <a:tr h="600891">
                <a:tc>
                  <a:txBody>
                    <a:bodyPr/>
                    <a:lstStyle/>
                    <a:p>
                      <a:pPr algn="l"/>
                      <a:r>
                        <a:rPr b="1" sz="1600">
                          <a:solidFill>
                            <a:srgbClr val="FFFFFF"/>
                          </a:solidFill>
                          <a:latin typeface="Calibri"/>
                        </a:rPr>
                        <a:t>Comment</a:t>
                      </a:r>
                    </a:p>
                  </a:txBody>
                  <a:tcPr anchor="ctr" marL="73152" marR="73152" marT="27432" marB="27432">
                    <a:solidFill>
                      <a:srgbClr val="1F4E79"/>
                    </a:solidFill>
                  </a:tcPr>
                </a:tc>
                <a:tc>
                  <a:txBody>
                    <a:bodyPr/>
                    <a:lstStyle/>
                    <a:p>
                      <a:pPr algn="ctr"/>
                      <a:r>
                        <a:rPr b="1" sz="1600">
                          <a:solidFill>
                            <a:srgbClr val="FFFFFF"/>
                          </a:solidFill>
                          <a:latin typeface="Calibri"/>
                        </a:rPr>
                        <a:t>Label</a:t>
                      </a:r>
                    </a:p>
                  </a:txBody>
                  <a:tcPr anchor="ctr" marL="73152" marR="73152" marT="27432" marB="27432">
                    <a:solidFill>
                      <a:srgbClr val="1F4E79"/>
                    </a:solidFill>
                  </a:tcPr>
                </a:tc>
                <a:tc>
                  <a:txBody>
                    <a:bodyPr/>
                    <a:lstStyle/>
                    <a:p>
                      <a:pPr algn="ctr"/>
                      <a:r>
                        <a:rPr b="1" sz="1600">
                          <a:solidFill>
                            <a:srgbClr val="FFFFFF"/>
                          </a:solidFill>
                          <a:latin typeface="Calibri"/>
                        </a:rPr>
                        <a:t>Type</a:t>
                      </a:r>
                    </a:p>
                  </a:txBody>
                  <a:tcPr anchor="ctr" marL="73152" marR="73152" marT="27432" marB="27432">
                    <a:solidFill>
                      <a:srgbClr val="1F4E79"/>
                    </a:solidFill>
                  </a:tcPr>
                </a:tc>
              </a:tr>
              <a:tr h="600891">
                <a:tc>
                  <a:txBody>
                    <a:bodyPr/>
                    <a:lstStyle/>
                    <a:p>
                      <a:pPr algn="l"/>
                      <a:r>
                        <a:rPr sz="1500">
                          <a:solidFill>
                            <a:srgbClr val="1A1A1A"/>
                          </a:solidFill>
                          <a:latin typeface="Calibri"/>
                        </a:rPr>
                        <a:t>Show this video and Ronaldo's stats to him.</a:t>
                      </a:r>
                    </a:p>
                  </a:txBody>
                  <a:tcPr anchor="ctr" marL="73152" marR="73152" marT="27432" marB="27432">
                    <a:solidFill>
                      <a:srgbClr val="FFFFFF"/>
                    </a:solidFill>
                  </a:tcPr>
                </a:tc>
                <a:tc>
                  <a:txBody>
                    <a:bodyPr/>
                    <a:lstStyle/>
                    <a:p>
                      <a:pPr algn="ctr"/>
                      <a:r>
                        <a:rPr sz="1500">
                          <a:solidFill>
                            <a:srgbClr val="1A1A1A"/>
                          </a:solidFill>
                          <a:latin typeface="Calibri"/>
                        </a:rPr>
                        <a:t>Not-Bullying</a:t>
                      </a:r>
                    </a:p>
                  </a:txBody>
                  <a:tcPr anchor="ctr" marL="73152" marR="73152" marT="27432" marB="27432">
                    <a:solidFill>
                      <a:srgbClr val="FFFFFF"/>
                    </a:solidFill>
                  </a:tcPr>
                </a:tc>
                <a:tc>
                  <a:txBody>
                    <a:bodyPr/>
                    <a:lstStyle/>
                    <a:p>
                      <a:pPr algn="ctr"/>
                      <a:r>
                        <a:rPr sz="1500">
                          <a:solidFill>
                            <a:srgbClr val="1A1A1A"/>
                          </a:solidFill>
                          <a:latin typeface="Calibri"/>
                        </a:rPr>
                        <a:t>--</a:t>
                      </a:r>
                    </a:p>
                  </a:txBody>
                  <a:tcPr anchor="ctr" marL="73152" marR="73152" marT="27432" marB="27432">
                    <a:solidFill>
                      <a:srgbClr val="FFFFFF"/>
                    </a:solidFill>
                  </a:tcPr>
                </a:tc>
              </a:tr>
              <a:tr h="600891">
                <a:tc>
                  <a:txBody>
                    <a:bodyPr/>
                    <a:lstStyle/>
                    <a:p>
                      <a:pPr algn="l"/>
                      <a:r>
                        <a:rPr sz="1500">
                          <a:solidFill>
                            <a:srgbClr val="1A1A1A"/>
                          </a:solidFill>
                          <a:latin typeface="Calibri"/>
                        </a:rPr>
                        <a:t>Bolton is a clown</a:t>
                      </a:r>
                    </a:p>
                  </a:txBody>
                  <a:tcPr anchor="ctr" marL="73152" marR="73152" marT="27432" marB="27432">
                    <a:solidFill>
                      <a:srgbClr val="DEEBF7"/>
                    </a:solidFill>
                  </a:tcPr>
                </a:tc>
                <a:tc>
                  <a:txBody>
                    <a:bodyPr/>
                    <a:lstStyle/>
                    <a:p>
                      <a:pPr algn="ctr"/>
                      <a:r>
                        <a:rPr sz="1500">
                          <a:solidFill>
                            <a:srgbClr val="1A1A1A"/>
                          </a:solidFill>
                          <a:latin typeface="Calibri"/>
                        </a:rPr>
                        <a:t>Bullying</a:t>
                      </a:r>
                    </a:p>
                  </a:txBody>
                  <a:tcPr anchor="ctr" marL="73152" marR="73152" marT="27432" marB="27432">
                    <a:solidFill>
                      <a:srgbClr val="DEEBF7"/>
                    </a:solidFill>
                  </a:tcPr>
                </a:tc>
                <a:tc>
                  <a:txBody>
                    <a:bodyPr/>
                    <a:lstStyle/>
                    <a:p>
                      <a:pPr algn="ctr"/>
                      <a:r>
                        <a:rPr sz="1500">
                          <a:solidFill>
                            <a:srgbClr val="1A1A1A"/>
                          </a:solidFill>
                          <a:latin typeface="Calibri"/>
                        </a:rPr>
                        <a:t>Troll</a:t>
                      </a:r>
                    </a:p>
                  </a:txBody>
                  <a:tcPr anchor="ctr" marL="73152" marR="73152" marT="27432" marB="27432">
                    <a:solidFill>
                      <a:srgbClr val="DEEBF7"/>
                    </a:solidFill>
                  </a:tcPr>
                </a:tc>
              </a:tr>
              <a:tr h="600891">
                <a:tc>
                  <a:txBody>
                    <a:bodyPr/>
                    <a:lstStyle/>
                    <a:p>
                      <a:pPr algn="l"/>
                      <a:r>
                        <a:rPr sz="1500">
                          <a:solidFill>
                            <a:srgbClr val="1A1A1A"/>
                          </a:solidFill>
                          <a:latin typeface="Calibri"/>
                        </a:rPr>
                        <a:t>Religion is primitive and a big waste of time.</a:t>
                      </a:r>
                    </a:p>
                  </a:txBody>
                  <a:tcPr anchor="ctr" marL="73152" marR="73152" marT="27432" marB="27432">
                    <a:solidFill>
                      <a:srgbClr val="FFFFFF"/>
                    </a:solidFill>
                  </a:tcPr>
                </a:tc>
                <a:tc>
                  <a:txBody>
                    <a:bodyPr/>
                    <a:lstStyle/>
                    <a:p>
                      <a:pPr algn="ctr"/>
                      <a:r>
                        <a:rPr sz="1500">
                          <a:solidFill>
                            <a:srgbClr val="1A1A1A"/>
                          </a:solidFill>
                          <a:latin typeface="Calibri"/>
                        </a:rPr>
                        <a:t>Bullying</a:t>
                      </a:r>
                    </a:p>
                  </a:txBody>
                  <a:tcPr anchor="ctr" marL="73152" marR="73152" marT="27432" marB="27432">
                    <a:solidFill>
                      <a:srgbClr val="FFFFFF"/>
                    </a:solidFill>
                  </a:tcPr>
                </a:tc>
                <a:tc>
                  <a:txBody>
                    <a:bodyPr/>
                    <a:lstStyle/>
                    <a:p>
                      <a:pPr algn="ctr"/>
                      <a:r>
                        <a:rPr sz="1500">
                          <a:solidFill>
                            <a:srgbClr val="1A1A1A"/>
                          </a:solidFill>
                          <a:latin typeface="Calibri"/>
                        </a:rPr>
                        <a:t>Religion</a:t>
                      </a:r>
                    </a:p>
                  </a:txBody>
                  <a:tcPr anchor="ctr" marL="73152" marR="73152" marT="27432" marB="27432">
                    <a:solidFill>
                      <a:srgbClr val="FFFFFF"/>
                    </a:solidFill>
                  </a:tcPr>
                </a:tc>
              </a:tr>
              <a:tr h="600891">
                <a:tc>
                  <a:txBody>
                    <a:bodyPr/>
                    <a:lstStyle/>
                    <a:p>
                      <a:pPr algn="l"/>
                      <a:r>
                        <a:rPr sz="1500">
                          <a:solidFill>
                            <a:srgbClr val="1A1A1A"/>
                          </a:solidFill>
                          <a:latin typeface="Calibri"/>
                        </a:rPr>
                        <a:t>death to the infidel, whoever that may be</a:t>
                      </a:r>
                    </a:p>
                  </a:txBody>
                  <a:tcPr anchor="ctr" marL="73152" marR="73152" marT="27432" marB="27432">
                    <a:solidFill>
                      <a:srgbClr val="DEEBF7"/>
                    </a:solidFill>
                  </a:tcPr>
                </a:tc>
                <a:tc>
                  <a:txBody>
                    <a:bodyPr/>
                    <a:lstStyle/>
                    <a:p>
                      <a:pPr algn="ctr"/>
                      <a:r>
                        <a:rPr sz="1500">
                          <a:solidFill>
                            <a:srgbClr val="1A1A1A"/>
                          </a:solidFill>
                          <a:latin typeface="Calibri"/>
                        </a:rPr>
                        <a:t>Bullying</a:t>
                      </a:r>
                    </a:p>
                  </a:txBody>
                  <a:tcPr anchor="ctr" marL="73152" marR="73152" marT="27432" marB="27432">
                    <a:solidFill>
                      <a:srgbClr val="DEEBF7"/>
                    </a:solidFill>
                  </a:tcPr>
                </a:tc>
                <a:tc>
                  <a:txBody>
                    <a:bodyPr/>
                    <a:lstStyle/>
                    <a:p>
                      <a:pPr algn="ctr"/>
                      <a:r>
                        <a:rPr sz="1500">
                          <a:solidFill>
                            <a:srgbClr val="1A1A1A"/>
                          </a:solidFill>
                          <a:latin typeface="Calibri"/>
                        </a:rPr>
                        <a:t>Threat</a:t>
                      </a:r>
                    </a:p>
                  </a:txBody>
                  <a:tcPr anchor="ctr" marL="73152" marR="73152" marT="27432" marB="27432">
                    <a:solidFill>
                      <a:srgbClr val="DEEBF7"/>
                    </a:solidFill>
                  </a:tcPr>
                </a:tc>
              </a:tr>
              <a:tr h="600891">
                <a:tc>
                  <a:txBody>
                    <a:bodyPr/>
                    <a:lstStyle/>
                    <a:p>
                      <a:pPr algn="l"/>
                      <a:r>
                        <a:rPr sz="1500">
                          <a:solidFill>
                            <a:srgbClr val="1A1A1A"/>
                          </a:solidFill>
                          <a:latin typeface="Calibri"/>
                        </a:rPr>
                        <a:t>This is what happens when you elect a moron.</a:t>
                      </a:r>
                    </a:p>
                  </a:txBody>
                  <a:tcPr anchor="ctr" marL="73152" marR="73152" marT="27432" marB="27432">
                    <a:solidFill>
                      <a:srgbClr val="FFFFFF"/>
                    </a:solidFill>
                  </a:tcPr>
                </a:tc>
                <a:tc>
                  <a:txBody>
                    <a:bodyPr/>
                    <a:lstStyle/>
                    <a:p>
                      <a:pPr algn="ctr"/>
                      <a:r>
                        <a:rPr sz="1500">
                          <a:solidFill>
                            <a:srgbClr val="1A1A1A"/>
                          </a:solidFill>
                          <a:latin typeface="Calibri"/>
                        </a:rPr>
                        <a:t>Bullying</a:t>
                      </a:r>
                    </a:p>
                  </a:txBody>
                  <a:tcPr anchor="ctr" marL="73152" marR="73152" marT="27432" marB="27432">
                    <a:solidFill>
                      <a:srgbClr val="FFFFFF"/>
                    </a:solidFill>
                  </a:tcPr>
                </a:tc>
                <a:tc>
                  <a:txBody>
                    <a:bodyPr/>
                    <a:lstStyle/>
                    <a:p>
                      <a:pPr algn="ctr"/>
                      <a:r>
                        <a:rPr sz="1500">
                          <a:solidFill>
                            <a:srgbClr val="1A1A1A"/>
                          </a:solidFill>
                          <a:latin typeface="Calibri"/>
                        </a:rPr>
                        <a:t>Political</a:t>
                      </a:r>
                    </a:p>
                  </a:txBody>
                  <a:tcPr anchor="ctr" marL="73152" marR="73152" marT="27432" marB="27432">
                    <a:solidFill>
                      <a:srgbClr val="FFFFFF"/>
                    </a:solidFill>
                  </a:tcPr>
                </a:tc>
              </a:tr>
              <a:tr h="600894">
                <a:tc>
                  <a:txBody>
                    <a:bodyPr/>
                    <a:lstStyle/>
                    <a:p>
                      <a:pPr algn="l"/>
                      <a:r>
                        <a:rPr sz="1500">
                          <a:solidFill>
                            <a:srgbClr val="1A1A1A"/>
                          </a:solidFill>
                          <a:latin typeface="Calibri"/>
                        </a:rPr>
                        <a:t>Mass immigration is destroying the West.</a:t>
                      </a:r>
                    </a:p>
                  </a:txBody>
                  <a:tcPr anchor="ctr" marL="73152" marR="73152" marT="27432" marB="27432">
                    <a:solidFill>
                      <a:srgbClr val="DEEBF7"/>
                    </a:solidFill>
                  </a:tcPr>
                </a:tc>
                <a:tc>
                  <a:txBody>
                    <a:bodyPr/>
                    <a:lstStyle/>
                    <a:p>
                      <a:pPr algn="ctr"/>
                      <a:r>
                        <a:rPr sz="1500">
                          <a:solidFill>
                            <a:srgbClr val="1A1A1A"/>
                          </a:solidFill>
                          <a:latin typeface="Calibri"/>
                        </a:rPr>
                        <a:t>Bullying</a:t>
                      </a:r>
                    </a:p>
                  </a:txBody>
                  <a:tcPr anchor="ctr" marL="73152" marR="73152" marT="27432" marB="27432">
                    <a:solidFill>
                      <a:srgbClr val="DEEBF7"/>
                    </a:solidFill>
                  </a:tcPr>
                </a:tc>
                <a:tc>
                  <a:txBody>
                    <a:bodyPr/>
                    <a:lstStyle/>
                    <a:p>
                      <a:pPr algn="ctr"/>
                      <a:r>
                        <a:rPr sz="1500">
                          <a:solidFill>
                            <a:srgbClr val="1A1A1A"/>
                          </a:solidFill>
                          <a:latin typeface="Calibri"/>
                        </a:rPr>
                        <a:t>Racism</a:t>
                      </a:r>
                    </a:p>
                  </a:txBody>
                  <a:tcPr anchor="ctr" marL="73152" marR="73152" marT="27432" marB="27432">
                    <a:solidFill>
                      <a:srgbClr val="DEEBF7"/>
                    </a:solidFill>
                  </a:tcPr>
                </a:tc>
              </a:tr>
            </a:tbl>
          </a:graphicData>
        </a:graphic>
      </p:graphicFrame>
      <p:sp>
        <p:nvSpPr>
          <p:cNvPr id="7" name="TextBox 6"/>
          <p:cNvSpPr txBox="1"/>
          <p:nvPr/>
        </p:nvSpPr>
        <p:spPr>
          <a:xfrm>
            <a:off x="640080" y="5760720"/>
            <a:ext cx="10881360" cy="457200"/>
          </a:xfrm>
          <a:prstGeom prst="rect">
            <a:avLst/>
          </a:prstGeom>
          <a:noFill/>
        </p:spPr>
        <p:txBody>
          <a:bodyPr wrap="square" anchor="t">
            <a:spAutoFit/>
          </a:bodyPr>
          <a:lstStyle/>
          <a:p>
            <a:pPr algn="l"/>
            <a:r>
              <a:rPr sz="1400" b="1">
                <a:solidFill>
                  <a:srgbClr val="C55A11"/>
                </a:solidFill>
                <a:latin typeface="Calibri"/>
              </a:rPr>
              <a:t>Strong wording alone is not bullying — the task needs context, not keywords.</a:t>
            </a:r>
          </a:p>
        </p:txBody>
      </p:sp>
      <p:sp>
        <p:nvSpPr>
          <p:cNvPr id="8" name="TextBox 7"/>
          <p:cNvSpPr txBox="1"/>
          <p:nvPr/>
        </p:nvSpPr>
        <p:spPr>
          <a:xfrm>
            <a:off x="365760" y="6446520"/>
            <a:ext cx="8229600" cy="365760"/>
          </a:xfrm>
          <a:prstGeom prst="rect">
            <a:avLst/>
          </a:prstGeom>
          <a:noFill/>
        </p:spPr>
        <p:txBody>
          <a:bodyPr wrap="square" anchor="t">
            <a:spAutoFit/>
          </a:bodyPr>
          <a:lstStyle/>
          <a:p>
            <a:pPr algn="l"/>
            <a:r>
              <a:rPr sz="1000" b="0">
                <a:solidFill>
                  <a:srgbClr val="6E6E6E"/>
                </a:solidFill>
                <a:latin typeface="Calibri"/>
              </a:rPr>
              <a:t>Explainable Cyberbullying Detection  •  RoBERTa + LIME</a:t>
            </a:r>
          </a:p>
        </p:txBody>
      </p:sp>
      <p:sp>
        <p:nvSpPr>
          <p:cNvPr id="9" name="TextBox 8"/>
          <p:cNvSpPr txBox="1"/>
          <p:nvPr/>
        </p:nvSpPr>
        <p:spPr>
          <a:xfrm>
            <a:off x="11247120" y="6446520"/>
            <a:ext cx="731520" cy="365760"/>
          </a:xfrm>
          <a:prstGeom prst="rect">
            <a:avLst/>
          </a:prstGeom>
          <a:noFill/>
        </p:spPr>
        <p:txBody>
          <a:bodyPr wrap="square" anchor="t">
            <a:spAutoFit/>
          </a:bodyPr>
          <a:lstStyle/>
          <a:p>
            <a:pPr algn="r"/>
            <a:r>
              <a:rPr sz="1100" b="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6400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241280" cy="868680"/>
          </a:xfrm>
          <a:prstGeom prst="rect">
            <a:avLst/>
          </a:prstGeom>
          <a:noFill/>
        </p:spPr>
        <p:txBody>
          <a:bodyPr wrap="square" anchor="ctr">
            <a:spAutoFit/>
          </a:bodyPr>
          <a:lstStyle/>
          <a:p>
            <a:pPr algn="l"/>
            <a:r>
              <a:rPr sz="2800" b="1">
                <a:solidFill>
                  <a:srgbClr val="FFFFFF"/>
                </a:solidFill>
                <a:latin typeface="Calibri"/>
              </a:rPr>
              <a:t>Methodology — The Pipeline</a:t>
            </a:r>
          </a:p>
        </p:txBody>
      </p:sp>
      <p:sp>
        <p:nvSpPr>
          <p:cNvPr id="5" name="TextBox 4"/>
          <p:cNvSpPr txBox="1"/>
          <p:nvPr/>
        </p:nvSpPr>
        <p:spPr>
          <a:xfrm>
            <a:off x="9692640" y="109728"/>
            <a:ext cx="2286000" cy="868680"/>
          </a:xfrm>
          <a:prstGeom prst="rect">
            <a:avLst/>
          </a:prstGeom>
          <a:noFill/>
        </p:spPr>
        <p:txBody>
          <a:bodyPr wrap="square" anchor="ctr">
            <a:spAutoFit/>
          </a:bodyPr>
          <a:lstStyle/>
          <a:p>
            <a:pPr algn="r"/>
            <a:r>
              <a:rPr sz="1200" b="1">
                <a:solidFill>
                  <a:srgbClr val="FFFFFF"/>
                </a:solidFill>
                <a:latin typeface="Calibri"/>
              </a:rPr>
              <a:t>Speaker 1</a:t>
            </a:r>
          </a:p>
        </p:txBody>
      </p:sp>
      <p:pic>
        <p:nvPicPr>
          <p:cNvPr id="6" name="Picture 5" descr="diag_pipeline.png"/>
          <p:cNvPicPr>
            <a:picLocks noChangeAspect="1"/>
          </p:cNvPicPr>
          <p:nvPr/>
        </p:nvPicPr>
        <p:blipFill>
          <a:blip r:embed="rId2"/>
          <a:stretch>
            <a:fillRect/>
          </a:stretch>
        </p:blipFill>
        <p:spPr>
          <a:xfrm>
            <a:off x="2881726" y="1325880"/>
            <a:ext cx="6416355" cy="4846320"/>
          </a:xfrm>
          <a:prstGeom prst="rect">
            <a:avLst/>
          </a:prstGeom>
        </p:spPr>
      </p:pic>
      <p:sp>
        <p:nvSpPr>
          <p:cNvPr id="7" name="TextBox 6"/>
          <p:cNvSpPr txBox="1"/>
          <p:nvPr/>
        </p:nvSpPr>
        <p:spPr>
          <a:xfrm>
            <a:off x="365760" y="6446520"/>
            <a:ext cx="8229600" cy="365760"/>
          </a:xfrm>
          <a:prstGeom prst="rect">
            <a:avLst/>
          </a:prstGeom>
          <a:noFill/>
        </p:spPr>
        <p:txBody>
          <a:bodyPr wrap="square" anchor="t">
            <a:spAutoFit/>
          </a:bodyPr>
          <a:lstStyle/>
          <a:p>
            <a:pPr algn="l"/>
            <a:r>
              <a:rPr sz="1000" b="0">
                <a:solidFill>
                  <a:srgbClr val="6E6E6E"/>
                </a:solidFill>
                <a:latin typeface="Calibri"/>
              </a:rPr>
              <a:t>Explainable Cyberbullying Detection  •  RoBERTa + LIME</a:t>
            </a:r>
          </a:p>
        </p:txBody>
      </p:sp>
      <p:sp>
        <p:nvSpPr>
          <p:cNvPr id="8" name="TextBox 7"/>
          <p:cNvSpPr txBox="1"/>
          <p:nvPr/>
        </p:nvSpPr>
        <p:spPr>
          <a:xfrm>
            <a:off x="11247120" y="6446520"/>
            <a:ext cx="731520" cy="365760"/>
          </a:xfrm>
          <a:prstGeom prst="rect">
            <a:avLst/>
          </a:prstGeom>
          <a:noFill/>
        </p:spPr>
        <p:txBody>
          <a:bodyPr wrap="square" anchor="t">
            <a:spAutoFit/>
          </a:bodyPr>
          <a:lstStyle/>
          <a:p>
            <a:pPr algn="r"/>
            <a:r>
              <a:rPr sz="1100" b="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6400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241280" cy="868680"/>
          </a:xfrm>
          <a:prstGeom prst="rect">
            <a:avLst/>
          </a:prstGeom>
          <a:noFill/>
        </p:spPr>
        <p:txBody>
          <a:bodyPr wrap="square" anchor="ctr">
            <a:spAutoFit/>
          </a:bodyPr>
          <a:lstStyle/>
          <a:p>
            <a:pPr algn="l"/>
            <a:r>
              <a:rPr sz="2800" b="1">
                <a:solidFill>
                  <a:srgbClr val="FFFFFF"/>
                </a:solidFill>
                <a:latin typeface="Calibri"/>
              </a:rPr>
              <a:t>Models &amp; Why LIME</a:t>
            </a:r>
          </a:p>
        </p:txBody>
      </p:sp>
      <p:sp>
        <p:nvSpPr>
          <p:cNvPr id="5" name="TextBox 4"/>
          <p:cNvSpPr txBox="1"/>
          <p:nvPr/>
        </p:nvSpPr>
        <p:spPr>
          <a:xfrm>
            <a:off x="9692640" y="109728"/>
            <a:ext cx="2286000" cy="868680"/>
          </a:xfrm>
          <a:prstGeom prst="rect">
            <a:avLst/>
          </a:prstGeom>
          <a:noFill/>
        </p:spPr>
        <p:txBody>
          <a:bodyPr wrap="square" anchor="ctr">
            <a:spAutoFit/>
          </a:bodyPr>
          <a:lstStyle/>
          <a:p>
            <a:pPr algn="r"/>
            <a:r>
              <a:rPr sz="1200" b="1">
                <a:solidFill>
                  <a:srgbClr val="FFFFFF"/>
                </a:solidFill>
                <a:latin typeface="Calibri"/>
              </a:rPr>
              <a:t>Speaker 2</a:t>
            </a:r>
          </a:p>
        </p:txBody>
      </p:sp>
      <p:sp>
        <p:nvSpPr>
          <p:cNvPr id="6" name="TextBox 5"/>
          <p:cNvSpPr txBox="1"/>
          <p:nvPr/>
        </p:nvSpPr>
        <p:spPr>
          <a:xfrm>
            <a:off x="457200" y="1280160"/>
            <a:ext cx="5486400" cy="3657600"/>
          </a:xfrm>
          <a:prstGeom prst="rect">
            <a:avLst/>
          </a:prstGeom>
          <a:noFill/>
        </p:spPr>
        <p:txBody>
          <a:bodyPr wrap="square">
            <a:spAutoFit/>
          </a:bodyPr>
          <a:lstStyle/>
          <a:p>
            <a:pPr>
              <a:spcAft>
                <a:spcPts val="1000"/>
              </a:spcAft>
            </a:pPr>
            <a:r>
              <a:rPr sz="1800" b="1">
                <a:solidFill>
                  <a:srgbClr val="1A1A1A"/>
                </a:solidFill>
                <a:latin typeface="Calibri"/>
              </a:rPr>
              <a:t>•  Four models, simple → advanced:</a:t>
            </a:r>
          </a:p>
          <a:p>
            <a:pPr lvl="1">
              <a:spcAft>
                <a:spcPts val="1000"/>
              </a:spcAft>
            </a:pPr>
            <a:r>
              <a:rPr sz="1800" b="0">
                <a:solidFill>
                  <a:srgbClr val="1A1A1A"/>
                </a:solidFill>
                <a:latin typeface="Calibri"/>
              </a:rPr>
              <a:t>–  TF-IDF + Logistic Regression (baseline)</a:t>
            </a:r>
          </a:p>
          <a:p>
            <a:pPr lvl="1">
              <a:spcAft>
                <a:spcPts val="1000"/>
              </a:spcAft>
            </a:pPr>
            <a:r>
              <a:rPr sz="1800" b="0">
                <a:solidFill>
                  <a:srgbClr val="1A1A1A"/>
                </a:solidFill>
                <a:latin typeface="Calibri"/>
              </a:rPr>
              <a:t>–  LSTM and GRU (read word order)</a:t>
            </a:r>
          </a:p>
          <a:p>
            <a:pPr lvl="1">
              <a:spcAft>
                <a:spcPts val="1000"/>
              </a:spcAft>
            </a:pPr>
            <a:r>
              <a:rPr sz="1800" b="1">
                <a:solidFill>
                  <a:srgbClr val="548235"/>
                </a:solidFill>
                <a:latin typeface="Calibri"/>
              </a:rPr>
              <a:t>–  RoBERTa (pretrained transformer)</a:t>
            </a:r>
          </a:p>
          <a:p>
            <a:pPr>
              <a:spcAft>
                <a:spcPts val="1000"/>
              </a:spcAft>
            </a:pPr>
            <a:r>
              <a:rPr sz="1800" b="1">
                <a:solidFill>
                  <a:srgbClr val="C55A11"/>
                </a:solidFill>
                <a:latin typeface="Calibri"/>
              </a:rPr>
              <a:t>•  LIME = model-agnostic, local, word-level, lightweight</a:t>
            </a:r>
          </a:p>
        </p:txBody>
      </p:sp>
      <p:pic>
        <p:nvPicPr>
          <p:cNvPr id="7" name="Picture 6" descr="diag_limeflow.png"/>
          <p:cNvPicPr>
            <a:picLocks noChangeAspect="1"/>
          </p:cNvPicPr>
          <p:nvPr/>
        </p:nvPicPr>
        <p:blipFill>
          <a:blip r:embed="rId2"/>
          <a:stretch>
            <a:fillRect/>
          </a:stretch>
        </p:blipFill>
        <p:spPr>
          <a:xfrm>
            <a:off x="5760720" y="1828800"/>
            <a:ext cx="6035040" cy="619597"/>
          </a:xfrm>
          <a:prstGeom prst="rect">
            <a:avLst/>
          </a:prstGeom>
        </p:spPr>
      </p:pic>
      <p:sp>
        <p:nvSpPr>
          <p:cNvPr id="8" name="TextBox 7"/>
          <p:cNvSpPr txBox="1"/>
          <p:nvPr/>
        </p:nvSpPr>
        <p:spPr>
          <a:xfrm>
            <a:off x="6035040" y="4846320"/>
            <a:ext cx="5943600" cy="914400"/>
          </a:xfrm>
          <a:prstGeom prst="rect">
            <a:avLst/>
          </a:prstGeom>
          <a:noFill/>
        </p:spPr>
        <p:txBody>
          <a:bodyPr wrap="square" anchor="t">
            <a:spAutoFit/>
          </a:bodyPr>
          <a:lstStyle/>
          <a:p>
            <a:pPr algn="l"/>
            <a:r>
              <a:rPr sz="1300" b="0">
                <a:solidFill>
                  <a:srgbClr val="6E6E6E"/>
                </a:solidFill>
                <a:latin typeface="Calibri"/>
              </a:rPr>
              <a:t>LIME perturbs the comment, watches RoBERTa's probability, and scores each word.</a:t>
            </a:r>
          </a:p>
        </p:txBody>
      </p:sp>
      <p:sp>
        <p:nvSpPr>
          <p:cNvPr id="9" name="TextBox 8"/>
          <p:cNvSpPr txBox="1"/>
          <p:nvPr/>
        </p:nvSpPr>
        <p:spPr>
          <a:xfrm>
            <a:off x="365760" y="6446520"/>
            <a:ext cx="8229600" cy="365760"/>
          </a:xfrm>
          <a:prstGeom prst="rect">
            <a:avLst/>
          </a:prstGeom>
          <a:noFill/>
        </p:spPr>
        <p:txBody>
          <a:bodyPr wrap="square" anchor="t">
            <a:spAutoFit/>
          </a:bodyPr>
          <a:lstStyle/>
          <a:p>
            <a:pPr algn="l"/>
            <a:r>
              <a:rPr sz="1000" b="0">
                <a:solidFill>
                  <a:srgbClr val="6E6E6E"/>
                </a:solidFill>
                <a:latin typeface="Calibri"/>
              </a:rPr>
              <a:t>Explainable Cyberbullying Detection  •  RoBERTa + LIME</a:t>
            </a:r>
          </a:p>
        </p:txBody>
      </p:sp>
      <p:sp>
        <p:nvSpPr>
          <p:cNvPr id="10" name="TextBox 9"/>
          <p:cNvSpPr txBox="1"/>
          <p:nvPr/>
        </p:nvSpPr>
        <p:spPr>
          <a:xfrm>
            <a:off x="11247120" y="6446520"/>
            <a:ext cx="731520" cy="365760"/>
          </a:xfrm>
          <a:prstGeom prst="rect">
            <a:avLst/>
          </a:prstGeom>
          <a:noFill/>
        </p:spPr>
        <p:txBody>
          <a:bodyPr wrap="square" anchor="t">
            <a:spAutoFit/>
          </a:bodyPr>
          <a:lstStyle/>
          <a:p>
            <a:pPr algn="r"/>
            <a:r>
              <a:rPr sz="1100" b="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6400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241280" cy="868680"/>
          </a:xfrm>
          <a:prstGeom prst="rect">
            <a:avLst/>
          </a:prstGeom>
          <a:noFill/>
        </p:spPr>
        <p:txBody>
          <a:bodyPr wrap="square" anchor="ctr">
            <a:spAutoFit/>
          </a:bodyPr>
          <a:lstStyle/>
          <a:p>
            <a:pPr algn="l"/>
            <a:r>
              <a:rPr sz="2800" b="1">
                <a:solidFill>
                  <a:srgbClr val="FFFFFF"/>
                </a:solidFill>
                <a:latin typeface="Calibri"/>
              </a:rPr>
              <a:t>Results — RoBERTa Wins</a:t>
            </a:r>
          </a:p>
        </p:txBody>
      </p:sp>
      <p:sp>
        <p:nvSpPr>
          <p:cNvPr id="5" name="TextBox 4"/>
          <p:cNvSpPr txBox="1"/>
          <p:nvPr/>
        </p:nvSpPr>
        <p:spPr>
          <a:xfrm>
            <a:off x="9692640" y="109728"/>
            <a:ext cx="2286000" cy="868680"/>
          </a:xfrm>
          <a:prstGeom prst="rect">
            <a:avLst/>
          </a:prstGeom>
          <a:noFill/>
        </p:spPr>
        <p:txBody>
          <a:bodyPr wrap="square" anchor="ctr">
            <a:spAutoFit/>
          </a:bodyPr>
          <a:lstStyle/>
          <a:p>
            <a:pPr algn="r"/>
            <a:r>
              <a:rPr sz="1200" b="1">
                <a:solidFill>
                  <a:srgbClr val="FFFFFF"/>
                </a:solidFill>
                <a:latin typeface="Calibri"/>
              </a:rPr>
              <a:t>Speaker 2</a:t>
            </a:r>
          </a:p>
        </p:txBody>
      </p:sp>
      <p:graphicFrame>
        <p:nvGraphicFramePr>
          <p:cNvPr id="6" name="Table 5"/>
          <p:cNvGraphicFramePr>
            <a:graphicFrameLocks noGrp="1"/>
          </p:cNvGraphicFramePr>
          <p:nvPr/>
        </p:nvGraphicFramePr>
        <p:xfrm>
          <a:off x="1097280" y="1554480"/>
          <a:ext cx="9966960" cy="3108960"/>
        </p:xfrm>
        <a:graphic>
          <a:graphicData uri="http://schemas.openxmlformats.org/drawingml/2006/table">
            <a:tbl>
              <a:tblPr firstRow="1" bandRow="1">
                <a:tableStyleId>{5C22544A-7EE6-4342-B048-85BDC9FD1C3A}</a:tableStyleId>
              </a:tblPr>
              <a:tblGrid>
                <a:gridCol w="3017520"/>
                <a:gridCol w="1737360"/>
                <a:gridCol w="1737360"/>
                <a:gridCol w="1737360"/>
                <a:gridCol w="1737360"/>
              </a:tblGrid>
              <a:tr h="621792">
                <a:tc>
                  <a:txBody>
                    <a:bodyPr/>
                    <a:lstStyle/>
                    <a:p>
                      <a:pPr algn="l"/>
                      <a:r>
                        <a:rPr b="1" sz="1700">
                          <a:solidFill>
                            <a:srgbClr val="FFFFFF"/>
                          </a:solidFill>
                          <a:latin typeface="Calibri"/>
                        </a:rPr>
                        <a:t>Model</a:t>
                      </a:r>
                    </a:p>
                  </a:txBody>
                  <a:tcPr anchor="ctr" marL="73152" marR="73152" marT="27432" marB="27432">
                    <a:solidFill>
                      <a:srgbClr val="1F4E79"/>
                    </a:solidFill>
                  </a:tcPr>
                </a:tc>
                <a:tc>
                  <a:txBody>
                    <a:bodyPr/>
                    <a:lstStyle/>
                    <a:p>
                      <a:pPr algn="ctr"/>
                      <a:r>
                        <a:rPr b="1" sz="1700">
                          <a:solidFill>
                            <a:srgbClr val="FFFFFF"/>
                          </a:solidFill>
                          <a:latin typeface="Calibri"/>
                        </a:rPr>
                        <a:t>Accuracy</a:t>
                      </a:r>
                    </a:p>
                  </a:txBody>
                  <a:tcPr anchor="ctr" marL="73152" marR="73152" marT="27432" marB="27432">
                    <a:solidFill>
                      <a:srgbClr val="1F4E79"/>
                    </a:solidFill>
                  </a:tcPr>
                </a:tc>
                <a:tc>
                  <a:txBody>
                    <a:bodyPr/>
                    <a:lstStyle/>
                    <a:p>
                      <a:pPr algn="ctr"/>
                      <a:r>
                        <a:rPr b="1" sz="1700">
                          <a:solidFill>
                            <a:srgbClr val="FFFFFF"/>
                          </a:solidFill>
                          <a:latin typeface="Calibri"/>
                        </a:rPr>
                        <a:t>Precision</a:t>
                      </a:r>
                    </a:p>
                  </a:txBody>
                  <a:tcPr anchor="ctr" marL="73152" marR="73152" marT="27432" marB="27432">
                    <a:solidFill>
                      <a:srgbClr val="1F4E79"/>
                    </a:solidFill>
                  </a:tcPr>
                </a:tc>
                <a:tc>
                  <a:txBody>
                    <a:bodyPr/>
                    <a:lstStyle/>
                    <a:p>
                      <a:pPr algn="ctr"/>
                      <a:r>
                        <a:rPr b="1" sz="1700">
                          <a:solidFill>
                            <a:srgbClr val="FFFFFF"/>
                          </a:solidFill>
                          <a:latin typeface="Calibri"/>
                        </a:rPr>
                        <a:t>Recall</a:t>
                      </a:r>
                    </a:p>
                  </a:txBody>
                  <a:tcPr anchor="ctr" marL="73152" marR="73152" marT="27432" marB="27432">
                    <a:solidFill>
                      <a:srgbClr val="1F4E79"/>
                    </a:solidFill>
                  </a:tcPr>
                </a:tc>
                <a:tc>
                  <a:txBody>
                    <a:bodyPr/>
                    <a:lstStyle/>
                    <a:p>
                      <a:pPr algn="ctr"/>
                      <a:r>
                        <a:rPr b="1" sz="1700">
                          <a:solidFill>
                            <a:srgbClr val="FFFFFF"/>
                          </a:solidFill>
                          <a:latin typeface="Calibri"/>
                        </a:rPr>
                        <a:t>F1-Score</a:t>
                      </a:r>
                    </a:p>
                  </a:txBody>
                  <a:tcPr anchor="ctr" marL="73152" marR="73152" marT="27432" marB="27432">
                    <a:solidFill>
                      <a:srgbClr val="1F4E79"/>
                    </a:solidFill>
                  </a:tcPr>
                </a:tc>
              </a:tr>
              <a:tr h="621792">
                <a:tc>
                  <a:txBody>
                    <a:bodyPr/>
                    <a:lstStyle/>
                    <a:p>
                      <a:pPr algn="l"/>
                      <a:r>
                        <a:rPr sz="1600">
                          <a:solidFill>
                            <a:srgbClr val="1A1A1A"/>
                          </a:solidFill>
                          <a:latin typeface="Calibri"/>
                        </a:rPr>
                        <a:t>Logistic Regression</a:t>
                      </a:r>
                    </a:p>
                  </a:txBody>
                  <a:tcPr anchor="ctr" marL="73152" marR="73152" marT="27432" marB="27432">
                    <a:solidFill>
                      <a:srgbClr val="FFFFFF"/>
                    </a:solidFill>
                  </a:tcPr>
                </a:tc>
                <a:tc>
                  <a:txBody>
                    <a:bodyPr/>
                    <a:lstStyle/>
                    <a:p>
                      <a:pPr algn="ctr"/>
                      <a:r>
                        <a:rPr sz="1600">
                          <a:solidFill>
                            <a:srgbClr val="1A1A1A"/>
                          </a:solidFill>
                          <a:latin typeface="Calibri"/>
                        </a:rPr>
                        <a:t>83.33%</a:t>
                      </a:r>
                    </a:p>
                  </a:txBody>
                  <a:tcPr anchor="ctr" marL="73152" marR="73152" marT="27432" marB="27432">
                    <a:solidFill>
                      <a:srgbClr val="FFFFFF"/>
                    </a:solidFill>
                  </a:tcPr>
                </a:tc>
                <a:tc>
                  <a:txBody>
                    <a:bodyPr/>
                    <a:lstStyle/>
                    <a:p>
                      <a:pPr algn="ctr"/>
                      <a:r>
                        <a:rPr sz="1600">
                          <a:solidFill>
                            <a:srgbClr val="1A1A1A"/>
                          </a:solidFill>
                          <a:latin typeface="Calibri"/>
                        </a:rPr>
                        <a:t>83.62%</a:t>
                      </a:r>
                    </a:p>
                  </a:txBody>
                  <a:tcPr anchor="ctr" marL="73152" marR="73152" marT="27432" marB="27432">
                    <a:solidFill>
                      <a:srgbClr val="FFFFFF"/>
                    </a:solidFill>
                  </a:tcPr>
                </a:tc>
                <a:tc>
                  <a:txBody>
                    <a:bodyPr/>
                    <a:lstStyle/>
                    <a:p>
                      <a:pPr algn="ctr"/>
                      <a:r>
                        <a:rPr sz="1600">
                          <a:solidFill>
                            <a:srgbClr val="1A1A1A"/>
                          </a:solidFill>
                          <a:latin typeface="Calibri"/>
                        </a:rPr>
                        <a:t>83.33%</a:t>
                      </a:r>
                    </a:p>
                  </a:txBody>
                  <a:tcPr anchor="ctr" marL="73152" marR="73152" marT="27432" marB="27432">
                    <a:solidFill>
                      <a:srgbClr val="FFFFFF"/>
                    </a:solidFill>
                  </a:tcPr>
                </a:tc>
                <a:tc>
                  <a:txBody>
                    <a:bodyPr/>
                    <a:lstStyle/>
                    <a:p>
                      <a:pPr algn="ctr"/>
                      <a:r>
                        <a:rPr sz="1600">
                          <a:solidFill>
                            <a:srgbClr val="1A1A1A"/>
                          </a:solidFill>
                          <a:latin typeface="Calibri"/>
                        </a:rPr>
                        <a:t>83.27%</a:t>
                      </a:r>
                    </a:p>
                  </a:txBody>
                  <a:tcPr anchor="ctr" marL="73152" marR="73152" marT="27432" marB="27432">
                    <a:solidFill>
                      <a:srgbClr val="FFFFFF"/>
                    </a:solidFill>
                  </a:tcPr>
                </a:tc>
              </a:tr>
              <a:tr h="621792">
                <a:tc>
                  <a:txBody>
                    <a:bodyPr/>
                    <a:lstStyle/>
                    <a:p>
                      <a:pPr algn="l"/>
                      <a:r>
                        <a:rPr sz="1600">
                          <a:solidFill>
                            <a:srgbClr val="1A1A1A"/>
                          </a:solidFill>
                          <a:latin typeface="Calibri"/>
                        </a:rPr>
                        <a:t>GRU</a:t>
                      </a:r>
                    </a:p>
                  </a:txBody>
                  <a:tcPr anchor="ctr" marL="73152" marR="73152" marT="27432" marB="27432">
                    <a:solidFill>
                      <a:srgbClr val="DEEBF7"/>
                    </a:solidFill>
                  </a:tcPr>
                </a:tc>
                <a:tc>
                  <a:txBody>
                    <a:bodyPr/>
                    <a:lstStyle/>
                    <a:p>
                      <a:pPr algn="ctr"/>
                      <a:r>
                        <a:rPr sz="1600">
                          <a:solidFill>
                            <a:srgbClr val="1A1A1A"/>
                          </a:solidFill>
                          <a:latin typeface="Calibri"/>
                        </a:rPr>
                        <a:t>85.33%</a:t>
                      </a:r>
                    </a:p>
                  </a:txBody>
                  <a:tcPr anchor="ctr" marL="73152" marR="73152" marT="27432" marB="27432">
                    <a:solidFill>
                      <a:srgbClr val="DEEBF7"/>
                    </a:solidFill>
                  </a:tcPr>
                </a:tc>
                <a:tc>
                  <a:txBody>
                    <a:bodyPr/>
                    <a:lstStyle/>
                    <a:p>
                      <a:pPr algn="ctr"/>
                      <a:r>
                        <a:rPr sz="1600">
                          <a:solidFill>
                            <a:srgbClr val="1A1A1A"/>
                          </a:solidFill>
                          <a:latin typeface="Calibri"/>
                        </a:rPr>
                        <a:t>85.36%</a:t>
                      </a:r>
                    </a:p>
                  </a:txBody>
                  <a:tcPr anchor="ctr" marL="73152" marR="73152" marT="27432" marB="27432">
                    <a:solidFill>
                      <a:srgbClr val="DEEBF7"/>
                    </a:solidFill>
                  </a:tcPr>
                </a:tc>
                <a:tc>
                  <a:txBody>
                    <a:bodyPr/>
                    <a:lstStyle/>
                    <a:p>
                      <a:pPr algn="ctr"/>
                      <a:r>
                        <a:rPr sz="1600">
                          <a:solidFill>
                            <a:srgbClr val="1A1A1A"/>
                          </a:solidFill>
                          <a:latin typeface="Calibri"/>
                        </a:rPr>
                        <a:t>85.33%</a:t>
                      </a:r>
                    </a:p>
                  </a:txBody>
                  <a:tcPr anchor="ctr" marL="73152" marR="73152" marT="27432" marB="27432">
                    <a:solidFill>
                      <a:srgbClr val="DEEBF7"/>
                    </a:solidFill>
                  </a:tcPr>
                </a:tc>
                <a:tc>
                  <a:txBody>
                    <a:bodyPr/>
                    <a:lstStyle/>
                    <a:p>
                      <a:pPr algn="ctr"/>
                      <a:r>
                        <a:rPr sz="1600">
                          <a:solidFill>
                            <a:srgbClr val="1A1A1A"/>
                          </a:solidFill>
                          <a:latin typeface="Calibri"/>
                        </a:rPr>
                        <a:t>85.34%</a:t>
                      </a:r>
                    </a:p>
                  </a:txBody>
                  <a:tcPr anchor="ctr" marL="73152" marR="73152" marT="27432" marB="27432">
                    <a:solidFill>
                      <a:srgbClr val="DEEBF7"/>
                    </a:solidFill>
                  </a:tcPr>
                </a:tc>
              </a:tr>
              <a:tr h="621792">
                <a:tc>
                  <a:txBody>
                    <a:bodyPr/>
                    <a:lstStyle/>
                    <a:p>
                      <a:pPr algn="l"/>
                      <a:r>
                        <a:rPr sz="1600">
                          <a:solidFill>
                            <a:srgbClr val="1A1A1A"/>
                          </a:solidFill>
                          <a:latin typeface="Calibri"/>
                        </a:rPr>
                        <a:t>LSTM</a:t>
                      </a:r>
                    </a:p>
                  </a:txBody>
                  <a:tcPr anchor="ctr" marL="73152" marR="73152" marT="27432" marB="27432">
                    <a:solidFill>
                      <a:srgbClr val="FFFFFF"/>
                    </a:solidFill>
                  </a:tcPr>
                </a:tc>
                <a:tc>
                  <a:txBody>
                    <a:bodyPr/>
                    <a:lstStyle/>
                    <a:p>
                      <a:pPr algn="ctr"/>
                      <a:r>
                        <a:rPr sz="1600">
                          <a:solidFill>
                            <a:srgbClr val="1A1A1A"/>
                          </a:solidFill>
                          <a:latin typeface="Calibri"/>
                        </a:rPr>
                        <a:t>87.33%</a:t>
                      </a:r>
                    </a:p>
                  </a:txBody>
                  <a:tcPr anchor="ctr" marL="73152" marR="73152" marT="27432" marB="27432">
                    <a:solidFill>
                      <a:srgbClr val="FFFFFF"/>
                    </a:solidFill>
                  </a:tcPr>
                </a:tc>
                <a:tc>
                  <a:txBody>
                    <a:bodyPr/>
                    <a:lstStyle/>
                    <a:p>
                      <a:pPr algn="ctr"/>
                      <a:r>
                        <a:rPr sz="1600">
                          <a:solidFill>
                            <a:srgbClr val="1A1A1A"/>
                          </a:solidFill>
                          <a:latin typeface="Calibri"/>
                        </a:rPr>
                        <a:t>87.33%</a:t>
                      </a:r>
                    </a:p>
                  </a:txBody>
                  <a:tcPr anchor="ctr" marL="73152" marR="73152" marT="27432" marB="27432">
                    <a:solidFill>
                      <a:srgbClr val="FFFFFF"/>
                    </a:solidFill>
                  </a:tcPr>
                </a:tc>
                <a:tc>
                  <a:txBody>
                    <a:bodyPr/>
                    <a:lstStyle/>
                    <a:p>
                      <a:pPr algn="ctr"/>
                      <a:r>
                        <a:rPr sz="1600">
                          <a:solidFill>
                            <a:srgbClr val="1A1A1A"/>
                          </a:solidFill>
                          <a:latin typeface="Calibri"/>
                        </a:rPr>
                        <a:t>87.33%</a:t>
                      </a:r>
                    </a:p>
                  </a:txBody>
                  <a:tcPr anchor="ctr" marL="73152" marR="73152" marT="27432" marB="27432">
                    <a:solidFill>
                      <a:srgbClr val="FFFFFF"/>
                    </a:solidFill>
                  </a:tcPr>
                </a:tc>
                <a:tc>
                  <a:txBody>
                    <a:bodyPr/>
                    <a:lstStyle/>
                    <a:p>
                      <a:pPr algn="ctr"/>
                      <a:r>
                        <a:rPr sz="1600">
                          <a:solidFill>
                            <a:srgbClr val="1A1A1A"/>
                          </a:solidFill>
                          <a:latin typeface="Calibri"/>
                        </a:rPr>
                        <a:t>87.33%</a:t>
                      </a:r>
                    </a:p>
                  </a:txBody>
                  <a:tcPr anchor="ctr" marL="73152" marR="73152" marT="27432" marB="27432">
                    <a:solidFill>
                      <a:srgbClr val="FFFFFF"/>
                    </a:solidFill>
                  </a:tcPr>
                </a:tc>
              </a:tr>
              <a:tr h="621792">
                <a:tc>
                  <a:txBody>
                    <a:bodyPr/>
                    <a:lstStyle/>
                    <a:p>
                      <a:pPr algn="l"/>
                      <a:r>
                        <a:rPr sz="1600">
                          <a:solidFill>
                            <a:srgbClr val="1A1A1A"/>
                          </a:solidFill>
                          <a:latin typeface="Calibri"/>
                        </a:rPr>
                        <a:t>RoBERTa (our model)</a:t>
                      </a:r>
                    </a:p>
                  </a:txBody>
                  <a:tcPr anchor="ctr" marL="73152" marR="73152" marT="27432" marB="27432">
                    <a:solidFill>
                      <a:srgbClr val="FFF2CC"/>
                    </a:solidFill>
                  </a:tcPr>
                </a:tc>
                <a:tc>
                  <a:txBody>
                    <a:bodyPr/>
                    <a:lstStyle/>
                    <a:p>
                      <a:pPr algn="ctr"/>
                      <a:r>
                        <a:rPr sz="1600">
                          <a:solidFill>
                            <a:srgbClr val="1A1A1A"/>
                          </a:solidFill>
                          <a:latin typeface="Calibri"/>
                        </a:rPr>
                        <a:t>92.33%</a:t>
                      </a:r>
                    </a:p>
                  </a:txBody>
                  <a:tcPr anchor="ctr" marL="73152" marR="73152" marT="27432" marB="27432">
                    <a:solidFill>
                      <a:srgbClr val="FFF2CC"/>
                    </a:solidFill>
                  </a:tcPr>
                </a:tc>
                <a:tc>
                  <a:txBody>
                    <a:bodyPr/>
                    <a:lstStyle/>
                    <a:p>
                      <a:pPr algn="ctr"/>
                      <a:r>
                        <a:rPr sz="1600">
                          <a:solidFill>
                            <a:srgbClr val="1A1A1A"/>
                          </a:solidFill>
                          <a:latin typeface="Calibri"/>
                        </a:rPr>
                        <a:t>92.36%</a:t>
                      </a:r>
                    </a:p>
                  </a:txBody>
                  <a:tcPr anchor="ctr" marL="73152" marR="73152" marT="27432" marB="27432">
                    <a:solidFill>
                      <a:srgbClr val="FFF2CC"/>
                    </a:solidFill>
                  </a:tcPr>
                </a:tc>
                <a:tc>
                  <a:txBody>
                    <a:bodyPr/>
                    <a:lstStyle/>
                    <a:p>
                      <a:pPr algn="ctr"/>
                      <a:r>
                        <a:rPr sz="1600">
                          <a:solidFill>
                            <a:srgbClr val="1A1A1A"/>
                          </a:solidFill>
                          <a:latin typeface="Calibri"/>
                        </a:rPr>
                        <a:t>92.33%</a:t>
                      </a:r>
                    </a:p>
                  </a:txBody>
                  <a:tcPr anchor="ctr" marL="73152" marR="73152" marT="27432" marB="27432">
                    <a:solidFill>
                      <a:srgbClr val="FFF2CC"/>
                    </a:solidFill>
                  </a:tcPr>
                </a:tc>
                <a:tc>
                  <a:txBody>
                    <a:bodyPr/>
                    <a:lstStyle/>
                    <a:p>
                      <a:pPr algn="ctr"/>
                      <a:r>
                        <a:rPr sz="1600">
                          <a:solidFill>
                            <a:srgbClr val="1A1A1A"/>
                          </a:solidFill>
                          <a:latin typeface="Calibri"/>
                        </a:rPr>
                        <a:t>92.33%</a:t>
                      </a:r>
                    </a:p>
                  </a:txBody>
                  <a:tcPr anchor="ctr" marL="73152" marR="73152" marT="27432" marB="27432">
                    <a:solidFill>
                      <a:srgbClr val="FFF2CC"/>
                    </a:solidFill>
                  </a:tcPr>
                </a:tc>
              </a:tr>
            </a:tbl>
          </a:graphicData>
        </a:graphic>
      </p:graphicFrame>
      <p:sp>
        <p:nvSpPr>
          <p:cNvPr id="7" name="TextBox 6"/>
          <p:cNvSpPr txBox="1"/>
          <p:nvPr/>
        </p:nvSpPr>
        <p:spPr>
          <a:xfrm>
            <a:off x="1097280" y="4937760"/>
            <a:ext cx="9966960" cy="1097280"/>
          </a:xfrm>
          <a:prstGeom prst="rect">
            <a:avLst/>
          </a:prstGeom>
          <a:noFill/>
        </p:spPr>
        <p:txBody>
          <a:bodyPr wrap="square" anchor="t">
            <a:spAutoFit/>
          </a:bodyPr>
          <a:lstStyle/>
          <a:p>
            <a:pPr algn="l"/>
            <a:r>
              <a:rPr sz="1600" b="1">
                <a:solidFill>
                  <a:srgbClr val="548235"/>
                </a:solidFill>
                <a:latin typeface="Calibri"/>
              </a:rPr>
              <a:t>RoBERTa: 92.33% — 5 points above the best recurrent model, and far above the base paper's 77%.</a:t>
            </a:r>
          </a:p>
        </p:txBody>
      </p:sp>
      <p:sp>
        <p:nvSpPr>
          <p:cNvPr id="8" name="TextBox 7"/>
          <p:cNvSpPr txBox="1"/>
          <p:nvPr/>
        </p:nvSpPr>
        <p:spPr>
          <a:xfrm>
            <a:off x="365760" y="6446520"/>
            <a:ext cx="8229600" cy="365760"/>
          </a:xfrm>
          <a:prstGeom prst="rect">
            <a:avLst/>
          </a:prstGeom>
          <a:noFill/>
        </p:spPr>
        <p:txBody>
          <a:bodyPr wrap="square" anchor="t">
            <a:spAutoFit/>
          </a:bodyPr>
          <a:lstStyle/>
          <a:p>
            <a:pPr algn="l"/>
            <a:r>
              <a:rPr sz="1000" b="0">
                <a:solidFill>
                  <a:srgbClr val="6E6E6E"/>
                </a:solidFill>
                <a:latin typeface="Calibri"/>
              </a:rPr>
              <a:t>Explainable Cyberbullying Detection  •  RoBERTa + LIME</a:t>
            </a:r>
          </a:p>
        </p:txBody>
      </p:sp>
      <p:sp>
        <p:nvSpPr>
          <p:cNvPr id="9" name="TextBox 8"/>
          <p:cNvSpPr txBox="1"/>
          <p:nvPr/>
        </p:nvSpPr>
        <p:spPr>
          <a:xfrm>
            <a:off x="11247120" y="6446520"/>
            <a:ext cx="731520" cy="365760"/>
          </a:xfrm>
          <a:prstGeom prst="rect">
            <a:avLst/>
          </a:prstGeom>
          <a:noFill/>
        </p:spPr>
        <p:txBody>
          <a:bodyPr wrap="square" anchor="t">
            <a:spAutoFit/>
          </a:bodyPr>
          <a:lstStyle/>
          <a:p>
            <a:pPr algn="r"/>
            <a:r>
              <a:rPr sz="1100" b="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6400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241280" cy="868680"/>
          </a:xfrm>
          <a:prstGeom prst="rect">
            <a:avLst/>
          </a:prstGeom>
          <a:noFill/>
        </p:spPr>
        <p:txBody>
          <a:bodyPr wrap="square" anchor="ctr">
            <a:spAutoFit/>
          </a:bodyPr>
          <a:lstStyle/>
          <a:p>
            <a:pPr algn="l"/>
            <a:r>
              <a:rPr sz="2800" b="1">
                <a:solidFill>
                  <a:srgbClr val="FFFFFF"/>
                </a:solidFill>
                <a:latin typeface="Calibri"/>
              </a:rPr>
              <a:t>Confusion Matrices — All Four Models</a:t>
            </a:r>
          </a:p>
        </p:txBody>
      </p:sp>
      <p:sp>
        <p:nvSpPr>
          <p:cNvPr id="5" name="TextBox 4"/>
          <p:cNvSpPr txBox="1"/>
          <p:nvPr/>
        </p:nvSpPr>
        <p:spPr>
          <a:xfrm>
            <a:off x="9692640" y="109728"/>
            <a:ext cx="2286000" cy="868680"/>
          </a:xfrm>
          <a:prstGeom prst="rect">
            <a:avLst/>
          </a:prstGeom>
          <a:noFill/>
        </p:spPr>
        <p:txBody>
          <a:bodyPr wrap="square" anchor="ctr">
            <a:spAutoFit/>
          </a:bodyPr>
          <a:lstStyle/>
          <a:p>
            <a:pPr algn="r"/>
            <a:r>
              <a:rPr sz="1200" b="1">
                <a:solidFill>
                  <a:srgbClr val="FFFFFF"/>
                </a:solidFill>
                <a:latin typeface="Calibri"/>
              </a:rPr>
              <a:t>Speaker 2</a:t>
            </a:r>
          </a:p>
        </p:txBody>
      </p:sp>
      <p:pic>
        <p:nvPicPr>
          <p:cNvPr id="6" name="Picture 5" descr="cm_combined.png"/>
          <p:cNvPicPr>
            <a:picLocks noChangeAspect="1"/>
          </p:cNvPicPr>
          <p:nvPr/>
        </p:nvPicPr>
        <p:blipFill>
          <a:blip r:embed="rId2"/>
          <a:stretch>
            <a:fillRect/>
          </a:stretch>
        </p:blipFill>
        <p:spPr>
          <a:xfrm>
            <a:off x="3240253" y="1280160"/>
            <a:ext cx="5699302" cy="4846320"/>
          </a:xfrm>
          <a:prstGeom prst="rect">
            <a:avLst/>
          </a:prstGeom>
        </p:spPr>
      </p:pic>
      <p:sp>
        <p:nvSpPr>
          <p:cNvPr id="7" name="TextBox 6"/>
          <p:cNvSpPr txBox="1"/>
          <p:nvPr/>
        </p:nvSpPr>
        <p:spPr>
          <a:xfrm>
            <a:off x="365760" y="6446520"/>
            <a:ext cx="8229600" cy="365760"/>
          </a:xfrm>
          <a:prstGeom prst="rect">
            <a:avLst/>
          </a:prstGeom>
          <a:noFill/>
        </p:spPr>
        <p:txBody>
          <a:bodyPr wrap="square" anchor="t">
            <a:spAutoFit/>
          </a:bodyPr>
          <a:lstStyle/>
          <a:p>
            <a:pPr algn="l"/>
            <a:r>
              <a:rPr sz="1000" b="0">
                <a:solidFill>
                  <a:srgbClr val="6E6E6E"/>
                </a:solidFill>
                <a:latin typeface="Calibri"/>
              </a:rPr>
              <a:t>Explainable Cyberbullying Detection  •  RoBERTa + LIME</a:t>
            </a:r>
          </a:p>
        </p:txBody>
      </p:sp>
      <p:sp>
        <p:nvSpPr>
          <p:cNvPr id="8" name="TextBox 7"/>
          <p:cNvSpPr txBox="1"/>
          <p:nvPr/>
        </p:nvSpPr>
        <p:spPr>
          <a:xfrm>
            <a:off x="11247120" y="6446520"/>
            <a:ext cx="731520" cy="365760"/>
          </a:xfrm>
          <a:prstGeom prst="rect">
            <a:avLst/>
          </a:prstGeom>
          <a:noFill/>
        </p:spPr>
        <p:txBody>
          <a:bodyPr wrap="square" anchor="t">
            <a:spAutoFit/>
          </a:bodyPr>
          <a:lstStyle/>
          <a:p>
            <a:pPr algn="r"/>
            <a:r>
              <a:rPr sz="1100" b="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6400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241280" cy="868680"/>
          </a:xfrm>
          <a:prstGeom prst="rect">
            <a:avLst/>
          </a:prstGeom>
          <a:noFill/>
        </p:spPr>
        <p:txBody>
          <a:bodyPr wrap="square" anchor="ctr">
            <a:spAutoFit/>
          </a:bodyPr>
          <a:lstStyle/>
          <a:p>
            <a:pPr algn="l"/>
            <a:r>
              <a:rPr sz="2800" b="1">
                <a:solidFill>
                  <a:srgbClr val="FFFFFF"/>
                </a:solidFill>
                <a:latin typeface="Calibri"/>
              </a:rPr>
              <a:t>LIME — Explaining Correct Predictions</a:t>
            </a:r>
          </a:p>
        </p:txBody>
      </p:sp>
      <p:sp>
        <p:nvSpPr>
          <p:cNvPr id="5" name="TextBox 4"/>
          <p:cNvSpPr txBox="1"/>
          <p:nvPr/>
        </p:nvSpPr>
        <p:spPr>
          <a:xfrm>
            <a:off x="9692640" y="109728"/>
            <a:ext cx="2286000" cy="868680"/>
          </a:xfrm>
          <a:prstGeom prst="rect">
            <a:avLst/>
          </a:prstGeom>
          <a:noFill/>
        </p:spPr>
        <p:txBody>
          <a:bodyPr wrap="square" anchor="ctr">
            <a:spAutoFit/>
          </a:bodyPr>
          <a:lstStyle/>
          <a:p>
            <a:pPr algn="r"/>
            <a:r>
              <a:rPr sz="1200" b="1">
                <a:solidFill>
                  <a:srgbClr val="FFFFFF"/>
                </a:solidFill>
                <a:latin typeface="Calibri"/>
              </a:rPr>
              <a:t>Speaker 2</a:t>
            </a:r>
          </a:p>
        </p:txBody>
      </p:sp>
      <p:pic>
        <p:nvPicPr>
          <p:cNvPr id="6" name="Picture 5" descr="out_hates.png"/>
          <p:cNvPicPr>
            <a:picLocks noChangeAspect="1"/>
          </p:cNvPicPr>
          <p:nvPr/>
        </p:nvPicPr>
        <p:blipFill>
          <a:blip r:embed="rId2"/>
          <a:stretch>
            <a:fillRect/>
          </a:stretch>
        </p:blipFill>
        <p:spPr>
          <a:xfrm>
            <a:off x="365760" y="1371600"/>
            <a:ext cx="5669280" cy="2380560"/>
          </a:xfrm>
          <a:prstGeom prst="rect">
            <a:avLst/>
          </a:prstGeom>
        </p:spPr>
      </p:pic>
      <p:pic>
        <p:nvPicPr>
          <p:cNvPr id="7" name="Picture 6" descr="lime_hates.png"/>
          <p:cNvPicPr>
            <a:picLocks noChangeAspect="1"/>
          </p:cNvPicPr>
          <p:nvPr/>
        </p:nvPicPr>
        <p:blipFill>
          <a:blip r:embed="rId3"/>
          <a:stretch>
            <a:fillRect/>
          </a:stretch>
        </p:blipFill>
        <p:spPr>
          <a:xfrm>
            <a:off x="7579792" y="1371600"/>
            <a:ext cx="3677055" cy="2743200"/>
          </a:xfrm>
          <a:prstGeom prst="rect">
            <a:avLst/>
          </a:prstGeom>
        </p:spPr>
      </p:pic>
      <p:sp>
        <p:nvSpPr>
          <p:cNvPr id="8" name="TextBox 7"/>
          <p:cNvSpPr txBox="1"/>
          <p:nvPr/>
        </p:nvSpPr>
        <p:spPr>
          <a:xfrm>
            <a:off x="457200" y="4572000"/>
            <a:ext cx="11247120" cy="1371600"/>
          </a:xfrm>
          <a:prstGeom prst="rect">
            <a:avLst/>
          </a:prstGeom>
          <a:noFill/>
        </p:spPr>
        <p:txBody>
          <a:bodyPr wrap="square" anchor="t">
            <a:spAutoFit/>
          </a:bodyPr>
          <a:lstStyle/>
          <a:p>
            <a:pPr algn="l"/>
            <a:r>
              <a:rPr sz="1600" b="0">
                <a:solidFill>
                  <a:srgbClr val="1A1A1A"/>
                </a:solidFill>
                <a:latin typeface="Calibri"/>
              </a:rPr>
              <a:t>“Everyone hates you, just go away” → Bullying (93.30%). LIME shows the words that drove it: hates, you, away. The decision is transparent and defensible.</a:t>
            </a:r>
          </a:p>
        </p:txBody>
      </p:sp>
      <p:sp>
        <p:nvSpPr>
          <p:cNvPr id="9" name="TextBox 8"/>
          <p:cNvSpPr txBox="1"/>
          <p:nvPr/>
        </p:nvSpPr>
        <p:spPr>
          <a:xfrm>
            <a:off x="365760" y="6446520"/>
            <a:ext cx="8229600" cy="365760"/>
          </a:xfrm>
          <a:prstGeom prst="rect">
            <a:avLst/>
          </a:prstGeom>
          <a:noFill/>
        </p:spPr>
        <p:txBody>
          <a:bodyPr wrap="square" anchor="t">
            <a:spAutoFit/>
          </a:bodyPr>
          <a:lstStyle/>
          <a:p>
            <a:pPr algn="l"/>
            <a:r>
              <a:rPr sz="1000" b="0">
                <a:solidFill>
                  <a:srgbClr val="6E6E6E"/>
                </a:solidFill>
                <a:latin typeface="Calibri"/>
              </a:rPr>
              <a:t>Explainable Cyberbullying Detection  •  RoBERTa + LIME</a:t>
            </a:r>
          </a:p>
        </p:txBody>
      </p:sp>
      <p:sp>
        <p:nvSpPr>
          <p:cNvPr id="10" name="TextBox 9"/>
          <p:cNvSpPr txBox="1"/>
          <p:nvPr/>
        </p:nvSpPr>
        <p:spPr>
          <a:xfrm>
            <a:off x="11247120" y="6446520"/>
            <a:ext cx="731520" cy="365760"/>
          </a:xfrm>
          <a:prstGeom prst="rect">
            <a:avLst/>
          </a:prstGeom>
          <a:noFill/>
        </p:spPr>
        <p:txBody>
          <a:bodyPr wrap="square" anchor="t">
            <a:spAutoFit/>
          </a:bodyPr>
          <a:lstStyle/>
          <a:p>
            <a:pPr algn="r"/>
            <a:r>
              <a:rPr sz="1100" b="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6400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241280" cy="868680"/>
          </a:xfrm>
          <a:prstGeom prst="rect">
            <a:avLst/>
          </a:prstGeom>
          <a:noFill/>
        </p:spPr>
        <p:txBody>
          <a:bodyPr wrap="square" anchor="ctr">
            <a:spAutoFit/>
          </a:bodyPr>
          <a:lstStyle/>
          <a:p>
            <a:pPr algn="l"/>
            <a:r>
              <a:rPr sz="2800" b="1">
                <a:solidFill>
                  <a:srgbClr val="FFFFFF"/>
                </a:solidFill>
                <a:latin typeface="Calibri"/>
              </a:rPr>
              <a:t>Honest Limitation — Sarcasm</a:t>
            </a:r>
          </a:p>
        </p:txBody>
      </p:sp>
      <p:sp>
        <p:nvSpPr>
          <p:cNvPr id="5" name="TextBox 4"/>
          <p:cNvSpPr txBox="1"/>
          <p:nvPr/>
        </p:nvSpPr>
        <p:spPr>
          <a:xfrm>
            <a:off x="9692640" y="109728"/>
            <a:ext cx="2286000" cy="868680"/>
          </a:xfrm>
          <a:prstGeom prst="rect">
            <a:avLst/>
          </a:prstGeom>
          <a:noFill/>
        </p:spPr>
        <p:txBody>
          <a:bodyPr wrap="square" anchor="ctr">
            <a:spAutoFit/>
          </a:bodyPr>
          <a:lstStyle/>
          <a:p>
            <a:pPr algn="r"/>
            <a:r>
              <a:rPr sz="1200" b="1">
                <a:solidFill>
                  <a:srgbClr val="FFFFFF"/>
                </a:solidFill>
                <a:latin typeface="Calibri"/>
              </a:rPr>
              <a:t>Speaker 2</a:t>
            </a:r>
          </a:p>
        </p:txBody>
      </p:sp>
      <p:pic>
        <p:nvPicPr>
          <p:cNvPr id="6" name="Picture 5" descr="out_sarcasm.png"/>
          <p:cNvPicPr>
            <a:picLocks noChangeAspect="1"/>
          </p:cNvPicPr>
          <p:nvPr/>
        </p:nvPicPr>
        <p:blipFill>
          <a:blip r:embed="rId2"/>
          <a:stretch>
            <a:fillRect/>
          </a:stretch>
        </p:blipFill>
        <p:spPr>
          <a:xfrm>
            <a:off x="432810" y="1325880"/>
            <a:ext cx="5718059" cy="2834640"/>
          </a:xfrm>
          <a:prstGeom prst="rect">
            <a:avLst/>
          </a:prstGeom>
        </p:spPr>
      </p:pic>
      <p:pic>
        <p:nvPicPr>
          <p:cNvPr id="7" name="Picture 6" descr="lime_sarcasm.png"/>
          <p:cNvPicPr>
            <a:picLocks noChangeAspect="1"/>
          </p:cNvPicPr>
          <p:nvPr/>
        </p:nvPicPr>
        <p:blipFill>
          <a:blip r:embed="rId3"/>
          <a:stretch>
            <a:fillRect/>
          </a:stretch>
        </p:blipFill>
        <p:spPr>
          <a:xfrm>
            <a:off x="7615979" y="1325880"/>
            <a:ext cx="3787561" cy="2834640"/>
          </a:xfrm>
          <a:prstGeom prst="rect">
            <a:avLst/>
          </a:prstGeom>
        </p:spPr>
      </p:pic>
      <p:sp>
        <p:nvSpPr>
          <p:cNvPr id="8" name="TextBox 7"/>
          <p:cNvSpPr txBox="1"/>
          <p:nvPr/>
        </p:nvSpPr>
        <p:spPr>
          <a:xfrm>
            <a:off x="457200" y="4572000"/>
            <a:ext cx="11247120" cy="1463040"/>
          </a:xfrm>
          <a:prstGeom prst="rect">
            <a:avLst/>
          </a:prstGeom>
          <a:noFill/>
        </p:spPr>
        <p:txBody>
          <a:bodyPr wrap="square" anchor="t">
            <a:spAutoFit/>
          </a:bodyPr>
          <a:lstStyle/>
          <a:p>
            <a:pPr algn="l"/>
            <a:r>
              <a:rPr sz="1600" b="0">
                <a:solidFill>
                  <a:srgbClr val="C55A11"/>
                </a:solidFill>
                <a:latin typeface="Calibri"/>
              </a:rPr>
              <a:t>“Wow, you're really smart... said no one ever.” → predicted Not-Bullying (WRONG). Positive words (Wow, really, said) fool the model. LIME makes this failure visible — a strength of explainability.</a:t>
            </a:r>
          </a:p>
        </p:txBody>
      </p:sp>
      <p:sp>
        <p:nvSpPr>
          <p:cNvPr id="9" name="TextBox 8"/>
          <p:cNvSpPr txBox="1"/>
          <p:nvPr/>
        </p:nvSpPr>
        <p:spPr>
          <a:xfrm>
            <a:off x="365760" y="6446520"/>
            <a:ext cx="8229600" cy="365760"/>
          </a:xfrm>
          <a:prstGeom prst="rect">
            <a:avLst/>
          </a:prstGeom>
          <a:noFill/>
        </p:spPr>
        <p:txBody>
          <a:bodyPr wrap="square" anchor="t">
            <a:spAutoFit/>
          </a:bodyPr>
          <a:lstStyle/>
          <a:p>
            <a:pPr algn="l"/>
            <a:r>
              <a:rPr sz="1000" b="0">
                <a:solidFill>
                  <a:srgbClr val="6E6E6E"/>
                </a:solidFill>
                <a:latin typeface="Calibri"/>
              </a:rPr>
              <a:t>Explainable Cyberbullying Detection  •  RoBERTa + LIME</a:t>
            </a:r>
          </a:p>
        </p:txBody>
      </p:sp>
      <p:sp>
        <p:nvSpPr>
          <p:cNvPr id="10" name="TextBox 9"/>
          <p:cNvSpPr txBox="1"/>
          <p:nvPr/>
        </p:nvSpPr>
        <p:spPr>
          <a:xfrm>
            <a:off x="11247120" y="6446520"/>
            <a:ext cx="731520" cy="365760"/>
          </a:xfrm>
          <a:prstGeom prst="rect">
            <a:avLst/>
          </a:prstGeom>
          <a:noFill/>
        </p:spPr>
        <p:txBody>
          <a:bodyPr wrap="square" anchor="t">
            <a:spAutoFit/>
          </a:bodyPr>
          <a:lstStyle/>
          <a:p>
            <a:pPr algn="r"/>
            <a:r>
              <a:rPr sz="1100" b="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6400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241280" cy="868680"/>
          </a:xfrm>
          <a:prstGeom prst="rect">
            <a:avLst/>
          </a:prstGeom>
          <a:noFill/>
        </p:spPr>
        <p:txBody>
          <a:bodyPr wrap="square" anchor="ctr">
            <a:spAutoFit/>
          </a:bodyPr>
          <a:lstStyle/>
          <a:p>
            <a:pPr algn="l"/>
            <a:r>
              <a:rPr sz="2800" b="1">
                <a:solidFill>
                  <a:srgbClr val="FFFFFF"/>
                </a:solidFill>
                <a:latin typeface="Calibri"/>
              </a:rPr>
              <a:t>Social Impact &amp; Conclusion</a:t>
            </a:r>
          </a:p>
        </p:txBody>
      </p:sp>
      <p:sp>
        <p:nvSpPr>
          <p:cNvPr id="5" name="TextBox 4"/>
          <p:cNvSpPr txBox="1"/>
          <p:nvPr/>
        </p:nvSpPr>
        <p:spPr>
          <a:xfrm>
            <a:off x="9692640" y="109728"/>
            <a:ext cx="2286000" cy="868680"/>
          </a:xfrm>
          <a:prstGeom prst="rect">
            <a:avLst/>
          </a:prstGeom>
          <a:noFill/>
        </p:spPr>
        <p:txBody>
          <a:bodyPr wrap="square" anchor="ctr">
            <a:spAutoFit/>
          </a:bodyPr>
          <a:lstStyle/>
          <a:p>
            <a:pPr algn="r"/>
            <a:r>
              <a:rPr sz="1200" b="1">
                <a:solidFill>
                  <a:srgbClr val="FFFFFF"/>
                </a:solidFill>
                <a:latin typeface="Calibri"/>
              </a:rPr>
              <a:t>Speaker 2</a:t>
            </a:r>
          </a:p>
        </p:txBody>
      </p:sp>
      <p:sp>
        <p:nvSpPr>
          <p:cNvPr id="6" name="TextBox 5"/>
          <p:cNvSpPr txBox="1"/>
          <p:nvPr/>
        </p:nvSpPr>
        <p:spPr>
          <a:xfrm>
            <a:off x="548640" y="1280160"/>
            <a:ext cx="11064240" cy="4846320"/>
          </a:xfrm>
          <a:prstGeom prst="rect">
            <a:avLst/>
          </a:prstGeom>
          <a:noFill/>
        </p:spPr>
        <p:txBody>
          <a:bodyPr wrap="square">
            <a:spAutoFit/>
          </a:bodyPr>
          <a:lstStyle/>
          <a:p>
            <a:pPr>
              <a:spcAft>
                <a:spcPts val="1600"/>
              </a:spcAft>
            </a:pPr>
            <a:r>
              <a:rPr sz="2100" b="0">
                <a:solidFill>
                  <a:srgbClr val="1A1A1A"/>
                </a:solidFill>
                <a:latin typeface="Calibri"/>
              </a:rPr>
              <a:t>•  Protects vulnerable users; reduces moderator burden.</a:t>
            </a:r>
          </a:p>
          <a:p>
            <a:pPr>
              <a:spcAft>
                <a:spcPts val="1600"/>
              </a:spcAft>
            </a:pPr>
            <a:r>
              <a:rPr sz="2100" b="1">
                <a:solidFill>
                  <a:srgbClr val="548235"/>
                </a:solidFill>
                <a:latin typeface="Calibri"/>
              </a:rPr>
              <a:t>•  Explainable decisions → fairer, reviewable moderation.</a:t>
            </a:r>
          </a:p>
          <a:p>
            <a:pPr>
              <a:spcAft>
                <a:spcPts val="1600"/>
              </a:spcAft>
            </a:pPr>
            <a:r>
              <a:rPr sz="2100" b="0">
                <a:solidFill>
                  <a:srgbClr val="1A1A1A"/>
                </a:solidFill>
                <a:latin typeface="Calibri"/>
              </a:rPr>
              <a:t>•  Best used human-in-the-loop (assist, not replace).</a:t>
            </a:r>
          </a:p>
          <a:p>
            <a:pPr>
              <a:spcAft>
                <a:spcPts val="1600"/>
              </a:spcAft>
            </a:pPr>
            <a:r>
              <a:rPr sz="2100" b="1">
                <a:solidFill>
                  <a:srgbClr val="1A1A1A"/>
                </a:solidFill>
                <a:latin typeface="Calibri"/>
              </a:rPr>
              <a:t>•  Conclusion: RoBERTa best in every setting + LIME adds trust.</a:t>
            </a:r>
          </a:p>
          <a:p>
            <a:pPr>
              <a:spcAft>
                <a:spcPts val="1600"/>
              </a:spcAft>
            </a:pPr>
            <a:r>
              <a:rPr sz="2100" b="0">
                <a:solidFill>
                  <a:srgbClr val="1A1A1A"/>
                </a:solidFill>
                <a:latin typeface="Calibri"/>
              </a:rPr>
              <a:t>•  Beats the base paper (77%) on our data (92.33%) and theirs (89.01%).</a:t>
            </a:r>
          </a:p>
        </p:txBody>
      </p:sp>
      <p:sp>
        <p:nvSpPr>
          <p:cNvPr id="7" name="TextBox 6"/>
          <p:cNvSpPr txBox="1"/>
          <p:nvPr/>
        </p:nvSpPr>
        <p:spPr>
          <a:xfrm>
            <a:off x="365760" y="6446520"/>
            <a:ext cx="8229600" cy="365760"/>
          </a:xfrm>
          <a:prstGeom prst="rect">
            <a:avLst/>
          </a:prstGeom>
          <a:noFill/>
        </p:spPr>
        <p:txBody>
          <a:bodyPr wrap="square" anchor="t">
            <a:spAutoFit/>
          </a:bodyPr>
          <a:lstStyle/>
          <a:p>
            <a:pPr algn="l"/>
            <a:r>
              <a:rPr sz="1000" b="0">
                <a:solidFill>
                  <a:srgbClr val="6E6E6E"/>
                </a:solidFill>
                <a:latin typeface="Calibri"/>
              </a:rPr>
              <a:t>Explainable Cyberbullying Detection  •  RoBERTa + LIME</a:t>
            </a:r>
          </a:p>
        </p:txBody>
      </p:sp>
      <p:sp>
        <p:nvSpPr>
          <p:cNvPr id="8" name="TextBox 7"/>
          <p:cNvSpPr txBox="1"/>
          <p:nvPr/>
        </p:nvSpPr>
        <p:spPr>
          <a:xfrm>
            <a:off x="11247120" y="6446520"/>
            <a:ext cx="731520" cy="365760"/>
          </a:xfrm>
          <a:prstGeom prst="rect">
            <a:avLst/>
          </a:prstGeom>
          <a:noFill/>
        </p:spPr>
        <p:txBody>
          <a:bodyPr wrap="square" anchor="t">
            <a:spAutoFit/>
          </a:bodyPr>
          <a:lstStyle/>
          <a:p>
            <a:pPr algn="r"/>
            <a:r>
              <a:rPr sz="1100" b="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6400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241280" cy="868680"/>
          </a:xfrm>
          <a:prstGeom prst="rect">
            <a:avLst/>
          </a:prstGeom>
          <a:noFill/>
        </p:spPr>
        <p:txBody>
          <a:bodyPr wrap="square" anchor="ctr">
            <a:spAutoFit/>
          </a:bodyPr>
          <a:lstStyle/>
          <a:p>
            <a:pPr algn="l"/>
            <a:r>
              <a:rPr sz="2800" b="1">
                <a:solidFill>
                  <a:srgbClr val="FFFFFF"/>
                </a:solidFill>
                <a:latin typeface="Calibri"/>
              </a:rPr>
              <a:t>Future Work &amp; Thank You</a:t>
            </a:r>
          </a:p>
        </p:txBody>
      </p:sp>
      <p:sp>
        <p:nvSpPr>
          <p:cNvPr id="5" name="TextBox 4"/>
          <p:cNvSpPr txBox="1"/>
          <p:nvPr/>
        </p:nvSpPr>
        <p:spPr>
          <a:xfrm>
            <a:off x="9692640" y="109728"/>
            <a:ext cx="2286000" cy="868680"/>
          </a:xfrm>
          <a:prstGeom prst="rect">
            <a:avLst/>
          </a:prstGeom>
          <a:noFill/>
        </p:spPr>
        <p:txBody>
          <a:bodyPr wrap="square" anchor="ctr">
            <a:spAutoFit/>
          </a:bodyPr>
          <a:lstStyle/>
          <a:p>
            <a:pPr algn="r"/>
            <a:r>
              <a:rPr sz="1200" b="1">
                <a:solidFill>
                  <a:srgbClr val="FFFFFF"/>
                </a:solidFill>
                <a:latin typeface="Calibri"/>
              </a:rPr>
              <a:t>Speaker 2</a:t>
            </a:r>
          </a:p>
        </p:txBody>
      </p:sp>
      <p:sp>
        <p:nvSpPr>
          <p:cNvPr id="6" name="TextBox 5"/>
          <p:cNvSpPr txBox="1"/>
          <p:nvPr/>
        </p:nvSpPr>
        <p:spPr>
          <a:xfrm>
            <a:off x="548640" y="1280160"/>
            <a:ext cx="11064240" cy="3657600"/>
          </a:xfrm>
          <a:prstGeom prst="rect">
            <a:avLst/>
          </a:prstGeom>
          <a:noFill/>
        </p:spPr>
        <p:txBody>
          <a:bodyPr wrap="square">
            <a:spAutoFit/>
          </a:bodyPr>
          <a:lstStyle/>
          <a:p>
            <a:pPr>
              <a:spcAft>
                <a:spcPts val="1200"/>
              </a:spcAft>
            </a:pPr>
            <a:r>
              <a:rPr sz="2000" b="0">
                <a:solidFill>
                  <a:srgbClr val="1A1A1A"/>
                </a:solidFill>
                <a:latin typeface="Calibri"/>
              </a:rPr>
              <a:t>•  Close the training gap (reference code hit 95.25% on our data).</a:t>
            </a:r>
          </a:p>
          <a:p>
            <a:pPr>
              <a:spcAft>
                <a:spcPts val="1200"/>
              </a:spcAft>
            </a:pPr>
            <a:r>
              <a:rPr sz="2000" b="0">
                <a:solidFill>
                  <a:srgbClr val="1A1A1A"/>
                </a:solidFill>
                <a:latin typeface="Calibri"/>
              </a:rPr>
              <a:t>•  Make the model sarcasm-aware.</a:t>
            </a:r>
          </a:p>
          <a:p>
            <a:pPr>
              <a:spcAft>
                <a:spcPts val="1200"/>
              </a:spcAft>
            </a:pPr>
            <a:r>
              <a:rPr sz="2000" b="0">
                <a:solidFill>
                  <a:srgbClr val="1A1A1A"/>
                </a:solidFill>
                <a:latin typeface="Calibri"/>
              </a:rPr>
              <a:t>•  Bring back fine-grained bully types.</a:t>
            </a:r>
          </a:p>
          <a:p>
            <a:pPr>
              <a:spcAft>
                <a:spcPts val="1200"/>
              </a:spcAft>
            </a:pPr>
            <a:r>
              <a:rPr sz="2000" b="1">
                <a:solidFill>
                  <a:srgbClr val="548235"/>
                </a:solidFill>
                <a:latin typeface="Calibri"/>
              </a:rPr>
              <a:t>•  Multilingual: Bangla + English + Hindi, with type.</a:t>
            </a:r>
          </a:p>
        </p:txBody>
      </p:sp>
      <p:sp>
        <p:nvSpPr>
          <p:cNvPr id="7" name="Rectangle 6"/>
          <p:cNvSpPr/>
          <p:nvPr/>
        </p:nvSpPr>
        <p:spPr>
          <a:xfrm>
            <a:off x="2286000" y="5120640"/>
            <a:ext cx="7589520" cy="10058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5120640"/>
            <a:ext cx="7589520" cy="1005840"/>
          </a:xfrm>
          <a:prstGeom prst="rect">
            <a:avLst/>
          </a:prstGeom>
          <a:noFill/>
        </p:spPr>
        <p:txBody>
          <a:bodyPr wrap="square" anchor="ctr">
            <a:spAutoFit/>
          </a:bodyPr>
          <a:lstStyle/>
          <a:p>
            <a:pPr algn="ctr"/>
            <a:r>
              <a:rPr sz="2800" b="1">
                <a:solidFill>
                  <a:srgbClr val="FFFFFF"/>
                </a:solidFill>
                <a:latin typeface="Calibri"/>
              </a:rPr>
              <a:t>Thank You  —  Questions?</a:t>
            </a:r>
          </a:p>
        </p:txBody>
      </p:sp>
      <p:sp>
        <p:nvSpPr>
          <p:cNvPr id="9" name="TextBox 8"/>
          <p:cNvSpPr txBox="1"/>
          <p:nvPr/>
        </p:nvSpPr>
        <p:spPr>
          <a:xfrm>
            <a:off x="365760" y="6446520"/>
            <a:ext cx="8229600" cy="365760"/>
          </a:xfrm>
          <a:prstGeom prst="rect">
            <a:avLst/>
          </a:prstGeom>
          <a:noFill/>
        </p:spPr>
        <p:txBody>
          <a:bodyPr wrap="square" anchor="t">
            <a:spAutoFit/>
          </a:bodyPr>
          <a:lstStyle/>
          <a:p>
            <a:pPr algn="l"/>
            <a:r>
              <a:rPr sz="1000" b="0">
                <a:solidFill>
                  <a:srgbClr val="6E6E6E"/>
                </a:solidFill>
                <a:latin typeface="Calibri"/>
              </a:rPr>
              <a:t>Explainable Cyberbullying Detection  •  RoBERTa + LIME</a:t>
            </a:r>
          </a:p>
        </p:txBody>
      </p:sp>
      <p:sp>
        <p:nvSpPr>
          <p:cNvPr id="10" name="TextBox 9"/>
          <p:cNvSpPr txBox="1"/>
          <p:nvPr/>
        </p:nvSpPr>
        <p:spPr>
          <a:xfrm>
            <a:off x="11247120" y="6446520"/>
            <a:ext cx="731520" cy="365760"/>
          </a:xfrm>
          <a:prstGeom prst="rect">
            <a:avLst/>
          </a:prstGeom>
          <a:noFill/>
        </p:spPr>
        <p:txBody>
          <a:bodyPr wrap="square" anchor="t">
            <a:spAutoFit/>
          </a:bodyPr>
          <a:lstStyle/>
          <a:p>
            <a:pPr algn="r"/>
            <a:r>
              <a:rPr sz="1100" b="0">
                <a:solidFill>
                  <a:srgbClr val="6E6E6E"/>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